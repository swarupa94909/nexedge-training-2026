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&amp; CLOUD COMPUTING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Cloud Concepts to Launching Your First AWS Web Server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434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• Cloud Fundamentals • Apache Web Server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Cloud Computing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 is the delivery of computing services over the internet (“the cloud”), including: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19659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19659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0" y="19659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63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0" y="3063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063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0" y="3063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063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Tools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offer faster innovation, flexible resources &amp; the economics of scale. You typically pay only for cloud services you use, helping lower operating costs, run infrastructure more efficiently &amp; scale as your business needs change.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OF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of Cloud Computing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18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Cost-Efficiency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buy expensive hardware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Pay-as-you-go model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618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95160" y="16002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scale resources up/down based on demand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startups and enterprises alike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041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0233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61772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from anywhere via the internet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remote work and global collaboration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041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40233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 &amp; Backup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461772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backups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servers ensure high availability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OF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of Cloud Computing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18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as a Service (SaaS)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apps like Gmail, Dropbox, Microsoft 365 directly from the cloud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618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95160" y="16002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Testing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Quickly set up development environments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apps in minutes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041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0233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&amp; Analytics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61772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and process large datasets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cloud tools for real-time analytics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041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40233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&amp; Machine Learning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461772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powerful AI/ML tools without needing local GPUs or complex setups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Cloud Computing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 works by using a network of remote servers hosted on the internet to store, manage, and process data. Here's how it typically works: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providers own massive data centers around the world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access these resources on-demand through a web browser or API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providers handle: Hardware maintenance, Security, Software updates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are charged based on usage (e.g., storage, computing time, bandwidth)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OF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Situations Where We Use Cloud Computing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1554480"/>
          </a:xfrm>
          <a:prstGeom prst="roundRect">
            <a:avLst>
              <a:gd name="adj" fmla="val 3529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" cy="15544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356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On-Demand Resource Scaling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company launches a product and expects traffic spikes.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allows auto-scaling to handle high traffic without crashing.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247120" cy="1554480"/>
          </a:xfrm>
          <a:prstGeom prst="roundRect">
            <a:avLst>
              <a:gd name="adj" fmla="val 3529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82296" cy="15544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2724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Software Development &amp; Testing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need to quickly create test environments.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Easily spin up development and test servers in the cloud.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11247120" cy="1554480"/>
          </a:xfrm>
          <a:prstGeom prst="roundRect">
            <a:avLst>
              <a:gd name="adj" fmla="val 3529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709160"/>
            <a:ext cx="82296" cy="15544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8188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 Backup &amp; Disaster Recovery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wants to protect data from loss due to system failure or cyberattacks.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offers automated backup and fast recovery options.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OF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Situations Where We Use Cloud Computing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1554480"/>
          </a:xfrm>
          <a:prstGeom prst="roundRect">
            <a:avLst>
              <a:gd name="adj" fmla="val 3529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" cy="15544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356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Remote Work &amp; Collaboration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company has remote teams or employees in different locations.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like Google Drive, Microsoft Teams, and Zoom run on cloud to support real-time collaboration.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247120" cy="1554480"/>
          </a:xfrm>
          <a:prstGeom prst="roundRect">
            <a:avLst>
              <a:gd name="adj" fmla="val 3529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82296" cy="15544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2724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Media Streaming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company like Netflix or YouTube needs to stream videos to millions.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delivers content globally using Content Delivery Networks (CDNs).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11247120" cy="1554480"/>
          </a:xfrm>
          <a:prstGeom prst="roundRect">
            <a:avLst>
              <a:gd name="adj" fmla="val 3529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709160"/>
            <a:ext cx="82296" cy="15544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8188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AI, Machine Learning, and Big 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organization wants to train an AI model or analyze large datasets.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platforms (like AWS SageMaker or Google BigQuery) provide powerful processing power and ready-made tools.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EC2 (Elastic Compute Cloud)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cloud, we mostly use AWS (Amazon Web Services), Azure, GCP (Google Cloud Platform)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create EC2 in AWS — before that we need to create an AWS account with credit / debit card details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4290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Compute Cloud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329184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34290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126480" y="4069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AWS Account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Chrome &amp; search for aws.amazon.com &amp; click “Create AWS account”.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0175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root user &amp; enter mail ID, password (for logging into AWS account), AWS account name &amp; click Continue.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4709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663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account type as Personal (we are using it just for learning) &amp; fill name, address, phone number &amp; click Continue.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4–6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AWS Account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asks for credit / debit card details like card number, CVV, name. AWS may place a temporary $1 charge to verify the given card.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0175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country &amp; phone number. Then receive an OTP through call or SMS and enter it.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4709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663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support plan — Basic, Developer, or Business. Basic is recommended as it is free — click Complete Sign Up.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geographic area where AWS has a group of data centers. Each region is isolated and independent from others to provide the highest possible fault tolerance and stability.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4892040" cy="502920"/>
          </a:xfrm>
          <a:prstGeom prst="roundRect">
            <a:avLst>
              <a:gd name="adj" fmla="val 10909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546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launched regions in AWS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ZONE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19456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an isolated location within that particular region.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3154680"/>
            <a:ext cx="4892040" cy="502920"/>
          </a:xfrm>
          <a:prstGeom prst="roundRect">
            <a:avLst>
              <a:gd name="adj" fmla="val 10909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1546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availability zones in AWS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→ </a:t>
            </a:r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Compute Cloud     </a:t>
            </a:r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→ </a:t>
            </a:r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LAUNCH INSTANCE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AWS console homepage. Click the EC2 option — this is the home page of EC2. Now click on “Launch instance” on the right side. Note: top-right shows the region name (e.g. Asia Pacific (Seoul)).</a:t>
            </a:r>
            <a:endParaRPr lang="en-US" sz="1500" dirty="0"/>
          </a:p>
        </p:txBody>
      </p:sp>
      <p:pic>
        <p:nvPicPr>
          <p:cNvPr id="6" name="Image 0" descr="/home/claude/unpacked/word/media/image1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209" y="2468880"/>
            <a:ext cx="10285277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NAME &amp; AMI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“Launch instance” option. Give a name &amp; select Ubuntu as AMI and Ubuntu server SSD volume type.</a:t>
            </a:r>
            <a:endParaRPr lang="en-US" sz="1500" dirty="0"/>
          </a:p>
        </p:txBody>
      </p:sp>
      <p:pic>
        <p:nvPicPr>
          <p:cNvPr id="6" name="Image 0" descr="/home/claude/unpacked/word/media/image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848" y="2194560"/>
            <a:ext cx="6858000" cy="42470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INSTANCE TYPE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instance type as shown below.</a:t>
            </a:r>
            <a:endParaRPr lang="en-US" sz="1500" dirty="0"/>
          </a:p>
        </p:txBody>
      </p:sp>
      <p:pic>
        <p:nvPicPr>
          <p:cNvPr id="6" name="Image 0" descr="/home/claude/unpacked/word/media/image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2377440"/>
            <a:ext cx="10515600" cy="24533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KEY PAIR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keypair for one of the instances &amp; use that same keypair for the other one too.</a:t>
            </a:r>
            <a:endParaRPr lang="en-US" sz="1500" dirty="0"/>
          </a:p>
        </p:txBody>
      </p:sp>
      <p:pic>
        <p:nvPicPr>
          <p:cNvPr id="6" name="Image 0" descr="/home/claude/unpacked/word/media/image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3931920" cy="3749161"/>
          </a:xfrm>
          <a:prstGeom prst="rect">
            <a:avLst/>
          </a:prstGeom>
        </p:spPr>
      </p:pic>
      <p:pic>
        <p:nvPicPr>
          <p:cNvPr id="7" name="Image 1" descr="/home/claude/unpacked/word/media/image1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581088"/>
            <a:ext cx="6583680" cy="11589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NETWORK SETTINGS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network settings, change the description.</a:t>
            </a:r>
            <a:endParaRPr lang="en-US" sz="1500" dirty="0"/>
          </a:p>
        </p:txBody>
      </p:sp>
      <p:pic>
        <p:nvPicPr>
          <p:cNvPr id="6" name="Image 0" descr="/home/claude/unpacked/word/media/image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5394960" cy="3125722"/>
          </a:xfrm>
          <a:prstGeom prst="rect">
            <a:avLst/>
          </a:prstGeom>
        </p:spPr>
      </p:pic>
      <p:pic>
        <p:nvPicPr>
          <p:cNvPr id="7" name="Image 1" descr="/home/claude/unpacked/word/media/image9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20240"/>
            <a:ext cx="5394960" cy="320769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57150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2F3F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5715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→ Secure Shell protocol.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Secure Shell protocol is a network communication method that allows two computers to securely communicate &amp; share data, even over an unsecured network.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— CONFIGURE STORAGE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configuration storage between 15–20 GiB.</a:t>
            </a:r>
            <a:endParaRPr lang="en-US" sz="1500" dirty="0"/>
          </a:p>
        </p:txBody>
      </p:sp>
      <p:pic>
        <p:nvPicPr>
          <p:cNvPr id="6" name="Image 0" descr="/home/claude/unpacked/word/media/image1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5760720" cy="24527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37960" y="1874520"/>
            <a:ext cx="5166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AWS, there are 2 types of storage:
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Elastic Block Storage
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Object Based Storage → like Google Drive
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4 volume types:
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General Purpose SSD (gp3)
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General Purpose SSD (gp2)
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Provisioned IOPS SSD (io2)
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Provisioned IOPS SSD (io3)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— LAUNCH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launch instance. Now the instance can be shown like this.</a:t>
            </a:r>
            <a:endParaRPr lang="en-US" sz="1500" dirty="0"/>
          </a:p>
        </p:txBody>
      </p:sp>
      <p:pic>
        <p:nvPicPr>
          <p:cNvPr id="6" name="Image 0" descr="/home/claude/unpacked/word/media/image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751" y="2651760"/>
            <a:ext cx="10272193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 with Webserver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connect the instance using MobaXterm, PuTTY.</a:t>
            </a:r>
            <a:endParaRPr lang="en-US" sz="20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many ways to connect &amp; we can connect using whatever tool we want.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1–2 — PUTTY SETUP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 with Webserver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PuTTY (putty.org page → Alternative binary files → putty.exe → 64-bit)
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keypair is downloaded in .ppk then ignore this step. If not, open PuTTY → Load → select .pem file &amp; click “Save private key”. The file is converted into .ppk.</a:t>
            </a:r>
            <a:endParaRPr lang="en-US" sz="1500" dirty="0"/>
          </a:p>
        </p:txBody>
      </p:sp>
      <p:pic>
        <p:nvPicPr>
          <p:cNvPr id="6" name="Image 0" descr="/home/claude/unpacked/word/media/image1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0"/>
            <a:ext cx="5943600" cy="1342695"/>
          </a:xfrm>
          <a:prstGeom prst="rect">
            <a:avLst/>
          </a:prstGeom>
        </p:spPr>
      </p:pic>
      <p:pic>
        <p:nvPicPr>
          <p:cNvPr id="7" name="Image 1" descr="/home/claude/unpacked/word/media/image9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200400"/>
            <a:ext cx="4937760" cy="24329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3–4 — CONNECT VIA SSH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 with Webserver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PuTTY. In host name, enter ubuntu@&lt;your-ec2-public-ip&gt;.
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Connection → SSH → Auth, browse and select the .ppk file. Click Open.</a:t>
            </a:r>
            <a:endParaRPr lang="en-US" sz="1500" dirty="0"/>
          </a:p>
        </p:txBody>
      </p:sp>
      <p:pic>
        <p:nvPicPr>
          <p:cNvPr id="6" name="Image 0" descr="/home/claude/unpacked/word/media/image1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16" y="3180216"/>
            <a:ext cx="2743200" cy="2509248"/>
          </a:xfrm>
          <a:prstGeom prst="rect">
            <a:avLst/>
          </a:prstGeom>
        </p:spPr>
      </p:pic>
      <p:pic>
        <p:nvPicPr>
          <p:cNvPr id="7" name="Image 1" descr="/home/claude/unpacked/word/media/image1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16" y="3194732"/>
            <a:ext cx="2743200" cy="2480216"/>
          </a:xfrm>
          <a:prstGeom prst="rect">
            <a:avLst/>
          </a:prstGeom>
        </p:spPr>
      </p:pic>
      <p:pic>
        <p:nvPicPr>
          <p:cNvPr id="8" name="Image 2" descr="/home/claude/unpacked/word/media/image1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16" y="3017520"/>
            <a:ext cx="2270464" cy="2834640"/>
          </a:xfrm>
          <a:prstGeom prst="rect">
            <a:avLst/>
          </a:prstGeom>
        </p:spPr>
      </p:pic>
      <p:pic>
        <p:nvPicPr>
          <p:cNvPr id="9" name="Image 3" descr="/home/claude/unpacked/word/media/image1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5580" y="3186274"/>
            <a:ext cx="2743200" cy="24971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SWITCH TO ROOT USER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 with Webserver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logging in, the Ubuntu prompt opens. Now, to use the root user, we use the command sudo su.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means “Super User DO”. Su means “Switch User”.</a:t>
            </a:r>
            <a:endParaRPr lang="en-US" sz="1500" dirty="0"/>
          </a:p>
        </p:txBody>
      </p:sp>
      <p:pic>
        <p:nvPicPr>
          <p:cNvPr id="6" name="Image 0" descr="/home/claude/unpacked/word/media/image1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4279" y="2560320"/>
            <a:ext cx="6763138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— INSTALL APACHE2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 with Webserver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installing the Apache2 application, first update Ubuntu using apt-get update –y &amp; apt-get install apache2 –y. Here apache2 is the package name.</a:t>
            </a:r>
            <a:endParaRPr lang="en-US" sz="1500" dirty="0"/>
          </a:p>
        </p:txBody>
      </p:sp>
      <p:pic>
        <p:nvPicPr>
          <p:cNvPr id="6" name="Image 0" descr="/home/claude/unpacked/word/media/image1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31720"/>
            <a:ext cx="3292250" cy="1920240"/>
          </a:xfrm>
          <a:prstGeom prst="rect">
            <a:avLst/>
          </a:prstGeom>
        </p:spPr>
      </p:pic>
      <p:pic>
        <p:nvPicPr>
          <p:cNvPr id="7" name="Image 1" descr="/home/claude/unpacked/word/media/image1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331720"/>
            <a:ext cx="3424225" cy="1920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21031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packages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263640" y="21031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apache2</a:t>
            </a:r>
            <a:endParaRPr lang="en-US" sz="1100" dirty="0"/>
          </a:p>
        </p:txBody>
      </p:sp>
      <p:pic>
        <p:nvPicPr>
          <p:cNvPr id="10" name="Image 2" descr="/home/claude/unpacked/word/media/image1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3209672" cy="1828800"/>
          </a:xfrm>
          <a:prstGeom prst="rect">
            <a:avLst/>
          </a:prstGeom>
        </p:spPr>
      </p:pic>
      <p:pic>
        <p:nvPicPr>
          <p:cNvPr id="11" name="Image 3" descr="/home/claude/unpacked/word/media/image11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572000"/>
            <a:ext cx="32836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7–9 — CLONE THE REPOSITORY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 with Webserver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which git — this tells the path of the git command.
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8: 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clone the repo into the local machine using: git clone https://github.com/Msocial123/CourseVita-Devops-Project.git
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9: 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CourseVita-Devops-Project — here cd is changing directory.</a:t>
            </a:r>
            <a:endParaRPr lang="en-US" sz="1450" dirty="0"/>
          </a:p>
        </p:txBody>
      </p:sp>
      <p:pic>
        <p:nvPicPr>
          <p:cNvPr id="6" name="Image 0" descr="/home/claude/unpacked/word/media/image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794760"/>
            <a:ext cx="5486400" cy="465364"/>
          </a:xfrm>
          <a:prstGeom prst="rect">
            <a:avLst/>
          </a:prstGeom>
        </p:spPr>
      </p:pic>
      <p:pic>
        <p:nvPicPr>
          <p:cNvPr id="7" name="Image 1" descr="/home/claude/unpacked/word/media/image7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920" y="4480560"/>
            <a:ext cx="5705856" cy="1188720"/>
          </a:xfrm>
          <a:prstGeom prst="rect">
            <a:avLst/>
          </a:prstGeom>
        </p:spPr>
      </p:pic>
      <p:pic>
        <p:nvPicPr>
          <p:cNvPr id="8" name="Image 2" descr="/home/claude/unpacked/word/media/image7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719" y="5852160"/>
            <a:ext cx="8834257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10–11 — DEPLOY &amp; VERIFY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 with Webserver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10: 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-r . /var/www/html — here cp is the copy command, -r means recursive (changing location), ‘.’ means from current directory to /var/www/html.
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11: 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checking the status of Apache2, use command: service apache2 status</a:t>
            </a:r>
            <a:endParaRPr lang="en-US" sz="1500" dirty="0"/>
          </a:p>
        </p:txBody>
      </p:sp>
      <p:pic>
        <p:nvPicPr>
          <p:cNvPr id="6" name="Image 0" descr="/home/claude/unpacked/word/media/image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726" y="3063240"/>
            <a:ext cx="9076242" cy="822960"/>
          </a:xfrm>
          <a:prstGeom prst="rect">
            <a:avLst/>
          </a:prstGeom>
        </p:spPr>
      </p:pic>
      <p:pic>
        <p:nvPicPr>
          <p:cNvPr id="7" name="Image 1" descr="/home/claude/unpacked/word/media/image8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8" y="4023360"/>
            <a:ext cx="7772400" cy="238047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12 — VIEW THE WEBSERVER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EC2 Instance with Webserver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copy the public IP address &amp; paste it in Chrome, adding “:80” to the public IP address — then we can see the webserver.</a:t>
            </a:r>
            <a:endParaRPr lang="en-US" sz="1500" dirty="0"/>
          </a:p>
        </p:txBody>
      </p:sp>
      <p:pic>
        <p:nvPicPr>
          <p:cNvPr id="6" name="Image 0" descr="/home/claude/unpacked/word/media/image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648" y="2286000"/>
            <a:ext cx="5486400" cy="26669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2026-07-27T13:51:49Z</dcterms:created>
  <dcterms:modified xsi:type="dcterms:W3CDTF">2026-07-27T13:51:49Z</dcterms:modified>
</cp:coreProperties>
</file>
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75" r:id="rId6"/>
    <p:sldId id="276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81" r:id="rId19"/>
    <p:sldId id="273" r:id="rId20"/>
    <p:sldId id="271" r:id="rId21"/>
    <p:sldId id="272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vi" initials="R" lastIdx="1" clrIdx="0">
    <p:extLst>
      <p:ext uri="{19B8F6BF-5375-455C-9EA6-DF929625EA0E}">
        <p15:presenceInfo xmlns:p15="http://schemas.microsoft.com/office/powerpoint/2012/main" userId="2e93288c39ca4c9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0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29T15:25:32.102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0624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5173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comments" Target="../comments/comment1.xml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572000"/>
            <a:ext cx="3657600" cy="3657600"/>
          </a:xfrm>
          <a:prstGeom prst="ellipse">
            <a:avLst/>
          </a:prstGeom>
          <a:solidFill>
            <a:srgbClr val="ED8936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NETWORKING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95728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VPC, Subnets, Route Tables,</a:t>
            </a:r>
            <a:endParaRPr lang="en-US" sz="4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Gateway &amp; NAT Gateway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foundation guide for freshers starting their cloud engineering journey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658368" cy="658368"/>
          </a:xfrm>
          <a:prstGeom prst="ellipse">
            <a:avLst/>
          </a:prstGeom>
          <a:solidFill>
            <a:srgbClr val="065A82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0" descr="/home/claude/work/assets/icon_vp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136" y="5246096"/>
            <a:ext cx="316017" cy="31601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691640" y="5074920"/>
            <a:ext cx="658368" cy="658368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1" descr="/home/claude/work/assets/icon_subn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2816" y="5246096"/>
            <a:ext cx="316017" cy="316017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560320" y="5074920"/>
            <a:ext cx="658368" cy="658368"/>
          </a:xfrm>
          <a:prstGeom prst="ellipse">
            <a:avLst/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2" descr="/home/claude/work/assets/icon_ro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1496" y="5246096"/>
            <a:ext cx="316017" cy="316017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5074920"/>
            <a:ext cx="658368" cy="658368"/>
          </a:xfrm>
          <a:prstGeom prst="ellipse">
            <a:avLst/>
          </a:prstGeom>
          <a:solidFill>
            <a:srgbClr val="ED8936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3" descr="/home/claude/work/assets/icon_ig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0176" y="5246096"/>
            <a:ext cx="316017" cy="316017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297680" y="5074920"/>
            <a:ext cx="658368" cy="658368"/>
          </a:xfrm>
          <a:prstGeom prst="ellipse">
            <a:avLst/>
          </a:prstGeom>
          <a:solidFill>
            <a:srgbClr val="B5511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4" descr="/home/claude/work/assets/icon_na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8856" y="5246096"/>
            <a:ext cx="316017" cy="31601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Networking Training Deck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065A82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3560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building blocks every AWS network is made of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1247120" cy="841248"/>
          </a:xfrm>
          <a:prstGeom prst="roundRect">
            <a:avLst>
              <a:gd name="adj" fmla="val 8696"/>
            </a:avLst>
          </a:prstGeom>
          <a:solidFill>
            <a:srgbClr val="F3F7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2020824"/>
            <a:ext cx="548640" cy="548640"/>
          </a:xfrm>
          <a:prstGeom prst="ellipse">
            <a:avLst/>
          </a:prstGeom>
          <a:solidFill>
            <a:srgbClr val="065A82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work/assets/icon_vp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14" y="2163470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9476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Virtual Private Cloud (VPC)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417320" y="2313432"/>
            <a:ext cx="9875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isolated network space inside AWS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816352"/>
            <a:ext cx="11247120" cy="841248"/>
          </a:xfrm>
          <a:prstGeom prst="roundRect">
            <a:avLst>
              <a:gd name="adj" fmla="val 8696"/>
            </a:avLst>
          </a:prstGeom>
          <a:solidFill>
            <a:srgbClr val="F3F7FA"/>
          </a:solidFill>
          <a:ln/>
        </p:spPr>
      </p:sp>
      <p:sp>
        <p:nvSpPr>
          <p:cNvPr id="12" name="Shape 9"/>
          <p:cNvSpPr/>
          <p:nvPr/>
        </p:nvSpPr>
        <p:spPr>
          <a:xfrm>
            <a:off x="658368" y="2962656"/>
            <a:ext cx="548640" cy="548640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1" descr="/home/claude/work/assets/icon_subn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" y="3105302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8895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Subnets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1417320" y="3255264"/>
            <a:ext cx="9875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IP ranges that divide your VPC across availability zones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3758184"/>
            <a:ext cx="11247120" cy="841248"/>
          </a:xfrm>
          <a:prstGeom prst="roundRect">
            <a:avLst>
              <a:gd name="adj" fmla="val 8696"/>
            </a:avLst>
          </a:prstGeom>
          <a:solidFill>
            <a:srgbClr val="F3F7FA"/>
          </a:solidFill>
          <a:ln/>
        </p:spPr>
      </p:sp>
      <p:sp>
        <p:nvSpPr>
          <p:cNvPr id="17" name="Shape 13"/>
          <p:cNvSpPr/>
          <p:nvPr/>
        </p:nvSpPr>
        <p:spPr>
          <a:xfrm>
            <a:off x="658368" y="3904488"/>
            <a:ext cx="548640" cy="548640"/>
          </a:xfrm>
          <a:prstGeom prst="ellipse">
            <a:avLst/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8" name="Image 2" descr="/home/claude/work/assets/icon_ro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014" y="4047134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83133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Route Tables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417320" y="4197096"/>
            <a:ext cx="9875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that decide where network traffic is allowed to go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57200" y="4700016"/>
            <a:ext cx="11247120" cy="841248"/>
          </a:xfrm>
          <a:prstGeom prst="roundRect">
            <a:avLst>
              <a:gd name="adj" fmla="val 8696"/>
            </a:avLst>
          </a:prstGeom>
          <a:solidFill>
            <a:srgbClr val="F3F7FA"/>
          </a:solidFill>
          <a:ln/>
        </p:spPr>
      </p:sp>
      <p:sp>
        <p:nvSpPr>
          <p:cNvPr id="22" name="Shape 17"/>
          <p:cNvSpPr/>
          <p:nvPr/>
        </p:nvSpPr>
        <p:spPr>
          <a:xfrm>
            <a:off x="658368" y="4846320"/>
            <a:ext cx="548640" cy="548640"/>
          </a:xfrm>
          <a:prstGeom prst="ellipse">
            <a:avLst/>
          </a:prstGeom>
          <a:solidFill>
            <a:srgbClr val="ED8936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3" name="Image 3" descr="/home/claude/work/assets/icon_ig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014" y="4988966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17320" y="47731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Internet Gateway (IGW)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1417320" y="5138928"/>
            <a:ext cx="9875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that connects your VPC to the public internet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57200" y="5641848"/>
            <a:ext cx="11247120" cy="841248"/>
          </a:xfrm>
          <a:prstGeom prst="roundRect">
            <a:avLst>
              <a:gd name="adj" fmla="val 8696"/>
            </a:avLst>
          </a:prstGeom>
          <a:solidFill>
            <a:srgbClr val="F3F7FA"/>
          </a:solidFill>
          <a:ln/>
        </p:spPr>
      </p:sp>
      <p:sp>
        <p:nvSpPr>
          <p:cNvPr id="27" name="Shape 21"/>
          <p:cNvSpPr/>
          <p:nvPr/>
        </p:nvSpPr>
        <p:spPr>
          <a:xfrm>
            <a:off x="658368" y="5788152"/>
            <a:ext cx="548640" cy="548640"/>
          </a:xfrm>
          <a:prstGeom prst="ellipse">
            <a:avLst/>
          </a:prstGeom>
          <a:solidFill>
            <a:srgbClr val="B5511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8" name="Image 4" descr="/home/claude/work/assets/icon_na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014" y="5930798"/>
            <a:ext cx="263347" cy="26334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417320" y="5715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NAT Gateway</a:t>
            </a:r>
            <a:endParaRPr lang="en-US" sz="1550" dirty="0"/>
          </a:p>
        </p:txBody>
      </p:sp>
      <p:sp>
        <p:nvSpPr>
          <p:cNvPr id="30" name="Text 23"/>
          <p:cNvSpPr/>
          <p:nvPr/>
        </p:nvSpPr>
        <p:spPr>
          <a:xfrm>
            <a:off x="1417320" y="6080760"/>
            <a:ext cx="9875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private resources reach the internet without being exposed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Networking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065A82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Deployment Starts With a Region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3560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creating any network, AWS asks you where in the world to build it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6035040" cy="4206240"/>
          </a:xfrm>
          <a:prstGeom prst="roundRect">
            <a:avLst>
              <a:gd name="adj" fmla="val 2174"/>
            </a:avLst>
          </a:prstGeom>
          <a:solidFill>
            <a:srgbClr val="F3F7F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53949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Region is simply a datacenter location (e.g. Mumbai, US East) — a collection of servers AWS manages for you.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region closest to your customers — a US-based customer is served better from a US region, an Indian customer from Mumbai.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chosen region, you create a VPC — and everything else (subnets, gateways, servers) lives inside that VPC.</a:t>
            </a:r>
            <a:endParaRPr lang="en-US" sz="1350" dirty="0"/>
          </a:p>
          <a:p>
            <a:pPr marL="342900" indent="-342900">
              <a:lnSpc>
                <a:spcPts val="1900"/>
              </a:lnSpc>
              <a:buSzPct val="100000"/>
              <a:buChar char="●"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bother with private networking at all? So nothing is exposed to hackers by default — you decide exactly what the internet can reach.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720840" y="1874520"/>
            <a:ext cx="49834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27000" dist="38100" dir="5400000" algn="bl" rotWithShape="0">
              <a:srgbClr val="1A2B3C">
                <a:alpha val="15000"/>
              </a:srgbClr>
            </a:outerShdw>
          </a:effectLst>
        </p:spPr>
      </p:sp>
      <p:pic>
        <p:nvPicPr>
          <p:cNvPr id="9" name="Image 0" descr="/home/claude/work/assets/vpc_reg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48856" y="2002536"/>
            <a:ext cx="4727448" cy="266090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720840" y="4791456"/>
            <a:ext cx="4983480" cy="32918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6830568" y="4791456"/>
            <a:ext cx="47640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an AWS Region before creating resources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720840" y="5257800"/>
            <a:ext cx="4983480" cy="822960"/>
          </a:xfrm>
          <a:prstGeom prst="roundRect">
            <a:avLst>
              <a:gd name="adj" fmla="val 8889"/>
            </a:avLst>
          </a:prstGeom>
          <a:solidFill>
            <a:srgbClr val="065A82">
              <a:alpha val="1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903720" y="52578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hierarchy:  </a:t>
            </a: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 →  VPC  →  Availability Zone  →  Subnet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Networking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065A82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VPC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VPC?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3560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Private Cloud — your own private slice of the AWS network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777240" cy="777240"/>
          </a:xfrm>
          <a:prstGeom prst="ellipse">
            <a:avLst/>
          </a:prstGeom>
          <a:solidFill>
            <a:srgbClr val="065A82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work/assets/icon_vp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" y="216804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92024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VPC lets you launch AWS resources inside a network that you define and fully control — your own IP address range, subnets, route tables and gateways — completely isolated from every other customer on AWS.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3063240"/>
            <a:ext cx="6903720" cy="3063240"/>
          </a:xfrm>
          <a:prstGeom prst="roundRect">
            <a:avLst>
              <a:gd name="adj" fmla="val 2985"/>
            </a:avLst>
          </a:prstGeom>
          <a:solidFill>
            <a:srgbClr val="0B1F33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2918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THIS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370332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VPC is like your own gated housing society inside a big city (AWS). You decide the internal roads (subnets), who can enter the gate (Internet Gateway), and the traffic rules (route tables) — the rest of the city can't just walk in.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4892040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cab vs. dedicated cab:  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"Default" tenancy is like an Ola/Uber shared ride — your VPC runs on shared physical hardware, which keeps cost low. "Dedicated" tenancy is a private cab — dedicated hardware, but a higher price.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543800" y="3063240"/>
            <a:ext cx="4160520" cy="3063240"/>
          </a:xfrm>
          <a:prstGeom prst="roundRect">
            <a:avLst>
              <a:gd name="adj" fmla="val 2985"/>
            </a:avLst>
          </a:prstGeom>
          <a:solidFill>
            <a:srgbClr val="F3F7FA"/>
          </a:solidFill>
          <a:ln/>
        </p:spPr>
      </p:sp>
      <p:sp>
        <p:nvSpPr>
          <p:cNvPr id="14" name="Text 11"/>
          <p:cNvSpPr/>
          <p:nvPr/>
        </p:nvSpPr>
        <p:spPr>
          <a:xfrm>
            <a:off x="7818120" y="32735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818120" y="3657600"/>
            <a:ext cx="3703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define an IP address range using CIDR notation (e.g. 10.0.0.0/16)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AWS resource (subnets, servers, gateways) is created inside a VPC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VPCs are private and isolated by default — nothing is public until you configure it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Networking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457200" y="41148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2"/>
          <p:cNvSpPr/>
          <p:nvPr/>
        </p:nvSpPr>
        <p:spPr>
          <a:xfrm>
            <a:off x="457200" y="4114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</a:t>
            </a:r>
            <a:endParaRPr lang="en-US" sz="1100" dirty="0"/>
          </a:p>
        </p:txBody>
      </p:sp>
      <p:sp>
        <p:nvSpPr>
          <p:cNvPr id="4" name="Text 3"/>
          <p:cNvSpPr/>
          <p:nvPr/>
        </p:nvSpPr>
        <p:spPr>
          <a:xfrm>
            <a:off x="45720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kern="0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IP Addressing — The Class System</a:t>
            </a:r>
            <a:endParaRPr lang="en-US" sz="2800" dirty="0"/>
          </a:p>
        </p:txBody>
      </p:sp>
      <p:sp>
        <p:nvSpPr>
          <p:cNvPr id="5" name="Text 4"/>
          <p:cNvSpPr/>
          <p:nvPr/>
        </p:nvSpPr>
        <p:spPr>
          <a:xfrm>
            <a:off x="457200" y="143560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kern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CIDR, networks were split into fixed-size classes A through E</a:t>
            </a:r>
            <a:endParaRPr lang="en-US" sz="1350" dirty="0"/>
          </a:p>
        </p:txBody>
      </p:sp>
      <p:sp>
        <p:nvSpPr>
          <p:cNvPr id="6" name="Shape 5"/>
          <p:cNvSpPr/>
          <p:nvPr/>
        </p:nvSpPr>
        <p:spPr>
          <a:xfrm>
            <a:off x="457200" y="1965960"/>
            <a:ext cx="120000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6"/>
          <p:cNvSpPr/>
          <p:nvPr/>
        </p:nvSpPr>
        <p:spPr>
          <a:xfrm>
            <a:off x="548640" y="1965960"/>
            <a:ext cx="101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050" dirty="0"/>
          </a:p>
        </p:txBody>
      </p:sp>
      <p:sp>
        <p:nvSpPr>
          <p:cNvPr id="8" name="Shape 7"/>
          <p:cNvSpPr/>
          <p:nvPr/>
        </p:nvSpPr>
        <p:spPr>
          <a:xfrm>
            <a:off x="1657200" y="1965960"/>
            <a:ext cx="200000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8"/>
          <p:cNvSpPr/>
          <p:nvPr/>
        </p:nvSpPr>
        <p:spPr>
          <a:xfrm>
            <a:off x="1748640" y="1965960"/>
            <a:ext cx="181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Octet Range</a:t>
            </a:r>
            <a:endParaRPr lang="en-US" sz="1050" dirty="0"/>
          </a:p>
        </p:txBody>
      </p:sp>
      <p:sp>
        <p:nvSpPr>
          <p:cNvPr id="10" name="Shape 9"/>
          <p:cNvSpPr/>
          <p:nvPr/>
        </p:nvSpPr>
        <p:spPr>
          <a:xfrm>
            <a:off x="3657200" y="1965960"/>
            <a:ext cx="230000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10"/>
          <p:cNvSpPr/>
          <p:nvPr/>
        </p:nvSpPr>
        <p:spPr>
          <a:xfrm>
            <a:off x="3748640" y="1965960"/>
            <a:ext cx="211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Mask</a:t>
            </a:r>
            <a:endParaRPr lang="en-US" sz="1050" dirty="0"/>
          </a:p>
        </p:txBody>
      </p:sp>
      <p:sp>
        <p:nvSpPr>
          <p:cNvPr id="12" name="Shape 11"/>
          <p:cNvSpPr/>
          <p:nvPr/>
        </p:nvSpPr>
        <p:spPr>
          <a:xfrm>
            <a:off x="5957200" y="1965960"/>
            <a:ext cx="200000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2"/>
          <p:cNvSpPr/>
          <p:nvPr/>
        </p:nvSpPr>
        <p:spPr>
          <a:xfrm>
            <a:off x="6048640" y="1965960"/>
            <a:ext cx="181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Hosts</a:t>
            </a:r>
            <a:endParaRPr lang="en-US" sz="1050" dirty="0"/>
          </a:p>
        </p:txBody>
      </p:sp>
      <p:sp>
        <p:nvSpPr>
          <p:cNvPr id="14" name="Shape 13"/>
          <p:cNvSpPr/>
          <p:nvPr/>
        </p:nvSpPr>
        <p:spPr>
          <a:xfrm>
            <a:off x="7957200" y="1965960"/>
            <a:ext cx="328992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4"/>
          <p:cNvSpPr/>
          <p:nvPr/>
        </p:nvSpPr>
        <p:spPr>
          <a:xfrm>
            <a:off x="8048640" y="1965960"/>
            <a:ext cx="31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1050" dirty="0"/>
          </a:p>
        </p:txBody>
      </p:sp>
      <p:sp>
        <p:nvSpPr>
          <p:cNvPr id="16" name="Shape 15"/>
          <p:cNvSpPr/>
          <p:nvPr/>
        </p:nvSpPr>
        <p:spPr>
          <a:xfrm>
            <a:off x="457200" y="2468880"/>
            <a:ext cx="1200000" cy="55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6"/>
          <p:cNvSpPr/>
          <p:nvPr/>
        </p:nvSpPr>
        <p:spPr>
          <a:xfrm>
            <a:off x="548640" y="2468880"/>
            <a:ext cx="1017120" cy="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</a:t>
            </a:r>
            <a:endParaRPr lang="en-US" sz="1000" dirty="0"/>
          </a:p>
        </p:txBody>
      </p:sp>
      <p:sp>
        <p:nvSpPr>
          <p:cNvPr id="18" name="Shape 17"/>
          <p:cNvSpPr/>
          <p:nvPr/>
        </p:nvSpPr>
        <p:spPr>
          <a:xfrm>
            <a:off x="1657200" y="2468880"/>
            <a:ext cx="2000000" cy="55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8"/>
          <p:cNvSpPr/>
          <p:nvPr/>
        </p:nvSpPr>
        <p:spPr>
          <a:xfrm>
            <a:off x="1748640" y="2468880"/>
            <a:ext cx="1817120" cy="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126</a:t>
            </a:r>
            <a:endParaRPr lang="en-US" sz="1000" dirty="0"/>
          </a:p>
        </p:txBody>
      </p:sp>
      <p:sp>
        <p:nvSpPr>
          <p:cNvPr id="20" name="Shape 19"/>
          <p:cNvSpPr/>
          <p:nvPr/>
        </p:nvSpPr>
        <p:spPr>
          <a:xfrm>
            <a:off x="3657200" y="2468880"/>
            <a:ext cx="2300000" cy="55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20"/>
          <p:cNvSpPr/>
          <p:nvPr/>
        </p:nvSpPr>
        <p:spPr>
          <a:xfrm>
            <a:off x="3748640" y="2468880"/>
            <a:ext cx="2117120" cy="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/8 </a:t>
            </a:r>
            <a:endParaRPr lang="en-US" sz="1000" dirty="0"/>
          </a:p>
        </p:txBody>
      </p:sp>
      <p:sp>
        <p:nvSpPr>
          <p:cNvPr id="22" name="Shape 21"/>
          <p:cNvSpPr/>
          <p:nvPr/>
        </p:nvSpPr>
        <p:spPr>
          <a:xfrm>
            <a:off x="5957200" y="2468880"/>
            <a:ext cx="2000000" cy="55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2"/>
          <p:cNvSpPr/>
          <p:nvPr/>
        </p:nvSpPr>
        <p:spPr>
          <a:xfrm>
            <a:off x="6048640" y="2468880"/>
            <a:ext cx="1817120" cy="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16,777,214</a:t>
            </a:r>
            <a:endParaRPr lang="en-US" sz="1000" dirty="0"/>
          </a:p>
        </p:txBody>
      </p:sp>
      <p:sp>
        <p:nvSpPr>
          <p:cNvPr id="24" name="Shape 23"/>
          <p:cNvSpPr/>
          <p:nvPr/>
        </p:nvSpPr>
        <p:spPr>
          <a:xfrm>
            <a:off x="7957200" y="2468880"/>
            <a:ext cx="3289920" cy="55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4"/>
          <p:cNvSpPr/>
          <p:nvPr/>
        </p:nvSpPr>
        <p:spPr>
          <a:xfrm>
            <a:off x="8048640" y="2468880"/>
            <a:ext cx="3107040" cy="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large organizations</a:t>
            </a:r>
            <a:endParaRPr lang="en-US" sz="1000" dirty="0"/>
          </a:p>
        </p:txBody>
      </p:sp>
      <p:sp>
        <p:nvSpPr>
          <p:cNvPr id="26" name="Shape 25"/>
          <p:cNvSpPr/>
          <p:nvPr/>
        </p:nvSpPr>
        <p:spPr>
          <a:xfrm>
            <a:off x="457200" y="3018880"/>
            <a:ext cx="1200000" cy="55000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27" name="Text 26"/>
          <p:cNvSpPr/>
          <p:nvPr/>
        </p:nvSpPr>
        <p:spPr>
          <a:xfrm>
            <a:off x="548640" y="3018880"/>
            <a:ext cx="1017120" cy="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</a:t>
            </a:r>
            <a:endParaRPr lang="en-US" sz="1000" dirty="0"/>
          </a:p>
        </p:txBody>
      </p:sp>
      <p:sp>
        <p:nvSpPr>
          <p:cNvPr id="28" name="Shape 27"/>
          <p:cNvSpPr/>
          <p:nvPr/>
        </p:nvSpPr>
        <p:spPr>
          <a:xfrm>
            <a:off x="1657200" y="3018880"/>
            <a:ext cx="2000000" cy="55000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29" name="Text 28"/>
          <p:cNvSpPr/>
          <p:nvPr/>
        </p:nvSpPr>
        <p:spPr>
          <a:xfrm>
            <a:off x="1748640" y="3018880"/>
            <a:ext cx="1817120" cy="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– 191</a:t>
            </a:r>
            <a:endParaRPr lang="en-US" sz="1000" dirty="0"/>
          </a:p>
        </p:txBody>
      </p:sp>
      <p:sp>
        <p:nvSpPr>
          <p:cNvPr id="30" name="Shape 29"/>
          <p:cNvSpPr/>
          <p:nvPr/>
        </p:nvSpPr>
        <p:spPr>
          <a:xfrm>
            <a:off x="3657200" y="3018880"/>
            <a:ext cx="2300000" cy="55000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31" name="Text 30"/>
          <p:cNvSpPr/>
          <p:nvPr/>
        </p:nvSpPr>
        <p:spPr>
          <a:xfrm>
            <a:off x="3748640" y="3018880"/>
            <a:ext cx="2117120" cy="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000" kern="0" dirty="0" smtClean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2" name="Shape 31"/>
          <p:cNvSpPr/>
          <p:nvPr/>
        </p:nvSpPr>
        <p:spPr>
          <a:xfrm>
            <a:off x="5957200" y="3018880"/>
            <a:ext cx="2000000" cy="55000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33" name="Text 32"/>
          <p:cNvSpPr/>
          <p:nvPr/>
        </p:nvSpPr>
        <p:spPr>
          <a:xfrm>
            <a:off x="6048640" y="3018880"/>
            <a:ext cx="1817120" cy="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65,534</a:t>
            </a:r>
            <a:endParaRPr lang="en-US" sz="1000" dirty="0"/>
          </a:p>
        </p:txBody>
      </p:sp>
      <p:sp>
        <p:nvSpPr>
          <p:cNvPr id="34" name="Shape 33"/>
          <p:cNvSpPr/>
          <p:nvPr/>
        </p:nvSpPr>
        <p:spPr>
          <a:xfrm>
            <a:off x="7957200" y="3018880"/>
            <a:ext cx="3289920" cy="55000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35" name="Text 34"/>
          <p:cNvSpPr/>
          <p:nvPr/>
        </p:nvSpPr>
        <p:spPr>
          <a:xfrm>
            <a:off x="8048640" y="3018880"/>
            <a:ext cx="3107040" cy="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Medium-sized organizations</a:t>
            </a:r>
            <a:endParaRPr lang="en-US" sz="1000" dirty="0"/>
          </a:p>
        </p:txBody>
      </p:sp>
      <p:sp>
        <p:nvSpPr>
          <p:cNvPr id="36" name="Shape 35"/>
          <p:cNvSpPr/>
          <p:nvPr/>
        </p:nvSpPr>
        <p:spPr>
          <a:xfrm>
            <a:off x="457200" y="3568880"/>
            <a:ext cx="1200000" cy="55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6"/>
          <p:cNvSpPr/>
          <p:nvPr/>
        </p:nvSpPr>
        <p:spPr>
          <a:xfrm>
            <a:off x="548640" y="3568880"/>
            <a:ext cx="1017120" cy="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</a:t>
            </a:r>
            <a:endParaRPr lang="en-US" sz="1000" dirty="0"/>
          </a:p>
        </p:txBody>
      </p:sp>
      <p:sp>
        <p:nvSpPr>
          <p:cNvPr id="38" name="Shape 37"/>
          <p:cNvSpPr/>
          <p:nvPr/>
        </p:nvSpPr>
        <p:spPr>
          <a:xfrm>
            <a:off x="1657200" y="3568880"/>
            <a:ext cx="2000000" cy="55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8"/>
          <p:cNvSpPr/>
          <p:nvPr/>
        </p:nvSpPr>
        <p:spPr>
          <a:xfrm>
            <a:off x="1748640" y="3568880"/>
            <a:ext cx="1817120" cy="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 – 223</a:t>
            </a:r>
            <a:endParaRPr lang="en-US" sz="1000" dirty="0"/>
          </a:p>
        </p:txBody>
      </p:sp>
      <p:sp>
        <p:nvSpPr>
          <p:cNvPr id="40" name="Shape 39"/>
          <p:cNvSpPr/>
          <p:nvPr/>
        </p:nvSpPr>
        <p:spPr>
          <a:xfrm>
            <a:off x="3657200" y="3568880"/>
            <a:ext cx="2300000" cy="55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40"/>
          <p:cNvSpPr/>
          <p:nvPr/>
        </p:nvSpPr>
        <p:spPr>
          <a:xfrm>
            <a:off x="3748640" y="3568880"/>
            <a:ext cx="2117120" cy="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/24 </a:t>
            </a:r>
            <a:endParaRPr lang="en-US" sz="1000" dirty="0"/>
          </a:p>
        </p:txBody>
      </p:sp>
      <p:sp>
        <p:nvSpPr>
          <p:cNvPr id="42" name="Shape 41"/>
          <p:cNvSpPr/>
          <p:nvPr/>
        </p:nvSpPr>
        <p:spPr>
          <a:xfrm>
            <a:off x="5957200" y="3568880"/>
            <a:ext cx="2000000" cy="55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2"/>
          <p:cNvSpPr/>
          <p:nvPr/>
        </p:nvSpPr>
        <p:spPr>
          <a:xfrm>
            <a:off x="6048640" y="3568880"/>
            <a:ext cx="1817120" cy="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</a:t>
            </a:r>
            <a:endParaRPr lang="en-US" sz="1000" dirty="0"/>
          </a:p>
        </p:txBody>
      </p:sp>
      <p:sp>
        <p:nvSpPr>
          <p:cNvPr id="44" name="Shape 43"/>
          <p:cNvSpPr/>
          <p:nvPr/>
        </p:nvSpPr>
        <p:spPr>
          <a:xfrm>
            <a:off x="7957200" y="3568880"/>
            <a:ext cx="3289920" cy="55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4"/>
          <p:cNvSpPr/>
          <p:nvPr/>
        </p:nvSpPr>
        <p:spPr>
          <a:xfrm>
            <a:off x="8048640" y="3568880"/>
            <a:ext cx="3107040" cy="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organizations and home networks</a:t>
            </a:r>
            <a:endParaRPr lang="en-US" sz="1000" dirty="0"/>
          </a:p>
        </p:txBody>
      </p:sp>
      <p:sp>
        <p:nvSpPr>
          <p:cNvPr id="46" name="Shape 45"/>
          <p:cNvSpPr/>
          <p:nvPr/>
        </p:nvSpPr>
        <p:spPr>
          <a:xfrm>
            <a:off x="457200" y="4118880"/>
            <a:ext cx="1200000" cy="55000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47" name="Text 46"/>
          <p:cNvSpPr/>
          <p:nvPr/>
        </p:nvSpPr>
        <p:spPr>
          <a:xfrm>
            <a:off x="548640" y="4118880"/>
            <a:ext cx="1017120" cy="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</a:t>
            </a:r>
            <a:endParaRPr lang="en-US" sz="1000" dirty="0"/>
          </a:p>
        </p:txBody>
      </p:sp>
      <p:sp>
        <p:nvSpPr>
          <p:cNvPr id="48" name="Shape 47"/>
          <p:cNvSpPr/>
          <p:nvPr/>
        </p:nvSpPr>
        <p:spPr>
          <a:xfrm>
            <a:off x="1657200" y="4118880"/>
            <a:ext cx="2000000" cy="55000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49" name="Text 48"/>
          <p:cNvSpPr/>
          <p:nvPr/>
        </p:nvSpPr>
        <p:spPr>
          <a:xfrm>
            <a:off x="1748640" y="4118880"/>
            <a:ext cx="1817120" cy="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– 239</a:t>
            </a:r>
            <a:endParaRPr lang="en-US" sz="1000" dirty="0"/>
          </a:p>
        </p:txBody>
      </p:sp>
      <p:sp>
        <p:nvSpPr>
          <p:cNvPr id="50" name="Shape 49"/>
          <p:cNvSpPr/>
          <p:nvPr/>
        </p:nvSpPr>
        <p:spPr>
          <a:xfrm>
            <a:off x="3657200" y="4118880"/>
            <a:ext cx="2300000" cy="55000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51" name="Text 50"/>
          <p:cNvSpPr/>
          <p:nvPr/>
        </p:nvSpPr>
        <p:spPr>
          <a:xfrm>
            <a:off x="3748640" y="4118880"/>
            <a:ext cx="2117120" cy="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52" name="Shape 51"/>
          <p:cNvSpPr/>
          <p:nvPr/>
        </p:nvSpPr>
        <p:spPr>
          <a:xfrm>
            <a:off x="5957200" y="4118880"/>
            <a:ext cx="2000000" cy="55000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53" name="Text 52"/>
          <p:cNvSpPr/>
          <p:nvPr/>
        </p:nvSpPr>
        <p:spPr>
          <a:xfrm>
            <a:off x="6048640" y="4118880"/>
            <a:ext cx="1817120" cy="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54" name="Shape 53"/>
          <p:cNvSpPr/>
          <p:nvPr/>
        </p:nvSpPr>
        <p:spPr>
          <a:xfrm>
            <a:off x="7957200" y="4118880"/>
            <a:ext cx="3289920" cy="55000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55" name="Text 54"/>
          <p:cNvSpPr/>
          <p:nvPr/>
        </p:nvSpPr>
        <p:spPr>
          <a:xfrm>
            <a:off x="8048640" y="4118880"/>
            <a:ext cx="3107040" cy="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Multicasting (one-to-many communication)</a:t>
            </a:r>
            <a:endParaRPr lang="en-US" sz="1000" dirty="0"/>
          </a:p>
        </p:txBody>
      </p:sp>
      <p:sp>
        <p:nvSpPr>
          <p:cNvPr id="56" name="Shape 55"/>
          <p:cNvSpPr/>
          <p:nvPr/>
        </p:nvSpPr>
        <p:spPr>
          <a:xfrm>
            <a:off x="457200" y="4668880"/>
            <a:ext cx="1200000" cy="55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6"/>
          <p:cNvSpPr/>
          <p:nvPr/>
        </p:nvSpPr>
        <p:spPr>
          <a:xfrm>
            <a:off x="548640" y="4668880"/>
            <a:ext cx="1017120" cy="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E</a:t>
            </a:r>
            <a:endParaRPr lang="en-US" sz="1000" dirty="0"/>
          </a:p>
        </p:txBody>
      </p:sp>
      <p:sp>
        <p:nvSpPr>
          <p:cNvPr id="58" name="Shape 57"/>
          <p:cNvSpPr/>
          <p:nvPr/>
        </p:nvSpPr>
        <p:spPr>
          <a:xfrm>
            <a:off x="1657200" y="4668880"/>
            <a:ext cx="2000000" cy="55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8"/>
          <p:cNvSpPr/>
          <p:nvPr/>
        </p:nvSpPr>
        <p:spPr>
          <a:xfrm>
            <a:off x="1748640" y="4668880"/>
            <a:ext cx="1817120" cy="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– 255</a:t>
            </a:r>
            <a:endParaRPr lang="en-US" sz="1000" dirty="0"/>
          </a:p>
        </p:txBody>
      </p:sp>
      <p:sp>
        <p:nvSpPr>
          <p:cNvPr id="60" name="Shape 59"/>
          <p:cNvSpPr/>
          <p:nvPr/>
        </p:nvSpPr>
        <p:spPr>
          <a:xfrm>
            <a:off x="3657200" y="4668880"/>
            <a:ext cx="2300000" cy="55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60"/>
          <p:cNvSpPr/>
          <p:nvPr/>
        </p:nvSpPr>
        <p:spPr>
          <a:xfrm>
            <a:off x="3748640" y="4668880"/>
            <a:ext cx="2117120" cy="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62" name="Shape 61"/>
          <p:cNvSpPr/>
          <p:nvPr/>
        </p:nvSpPr>
        <p:spPr>
          <a:xfrm>
            <a:off x="5957200" y="4668880"/>
            <a:ext cx="2000000" cy="55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2"/>
          <p:cNvSpPr/>
          <p:nvPr/>
        </p:nvSpPr>
        <p:spPr>
          <a:xfrm>
            <a:off x="6048640" y="4668880"/>
            <a:ext cx="1817120" cy="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64" name="Shape 63"/>
          <p:cNvSpPr/>
          <p:nvPr/>
        </p:nvSpPr>
        <p:spPr>
          <a:xfrm>
            <a:off x="7957200" y="4668880"/>
            <a:ext cx="3289920" cy="55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4"/>
          <p:cNvSpPr/>
          <p:nvPr/>
        </p:nvSpPr>
        <p:spPr>
          <a:xfrm>
            <a:off x="8048640" y="4668880"/>
            <a:ext cx="3107040" cy="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experimental purposes</a:t>
            </a:r>
            <a:endParaRPr lang="en-US" sz="1000" dirty="0"/>
          </a:p>
        </p:txBody>
      </p:sp>
      <p:sp>
        <p:nvSpPr>
          <p:cNvPr id="66" name="Text 6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Networking</a:t>
            </a:r>
            <a:endParaRPr lang="en-US" sz="1000" dirty="0"/>
          </a:p>
        </p:txBody>
      </p:sp>
      <p:sp>
        <p:nvSpPr>
          <p:cNvPr id="67" name="Text 6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457200" y="41148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2"/>
          <p:cNvSpPr/>
          <p:nvPr/>
        </p:nvSpPr>
        <p:spPr>
          <a:xfrm>
            <a:off x="457200" y="4114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</a:t>
            </a:r>
            <a:endParaRPr lang="en-US" sz="1100" dirty="0"/>
          </a:p>
        </p:txBody>
      </p:sp>
      <p:sp>
        <p:nvSpPr>
          <p:cNvPr id="4" name="Text 3"/>
          <p:cNvSpPr/>
          <p:nvPr/>
        </p:nvSpPr>
        <p:spPr>
          <a:xfrm>
            <a:off x="45720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kern="0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Did We Move to CIDR?</a:t>
            </a:r>
            <a:endParaRPr lang="en-US" sz="2800" dirty="0"/>
          </a:p>
        </p:txBody>
      </p:sp>
      <p:sp>
        <p:nvSpPr>
          <p:cNvPr id="5" name="Text 4"/>
          <p:cNvSpPr/>
          <p:nvPr/>
        </p:nvSpPr>
        <p:spPr>
          <a:xfrm>
            <a:off x="457200" y="143560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kern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wasteful fixed classes to flexible, need-based allocation</a:t>
            </a:r>
            <a:endParaRPr lang="en-US" sz="1350" dirty="0"/>
          </a:p>
        </p:txBody>
      </p:sp>
      <p:sp>
        <p:nvSpPr>
          <p:cNvPr id="6" name="Shape 5"/>
          <p:cNvSpPr/>
          <p:nvPr/>
        </p:nvSpPr>
        <p:spPr>
          <a:xfrm>
            <a:off x="457200" y="19659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00" name="Image 0" descr="/home/claude/work/assets/icon_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" y="2168042"/>
            <a:ext cx="373075" cy="373075"/>
          </a:xfrm>
          <a:prstGeom prst="rect">
            <a:avLst/>
          </a:prstGeom>
        </p:spPr>
      </p:pic>
      <p:sp>
        <p:nvSpPr>
          <p:cNvPr id="7" name="Text 6"/>
          <p:cNvSpPr/>
          <p:nvPr/>
        </p:nvSpPr>
        <p:spPr>
          <a:xfrm>
            <a:off x="1463040" y="1920240"/>
            <a:ext cx="9966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Classful addressing used fixed network sizes, which wasted many IP addresses. A company needing 1,000 IP addresses had to use a Class B network with 65,534 usable addresses — using under 2% of the block.</a:t>
            </a:r>
            <a:endParaRPr lang="en-US" sz="1300" dirty="0"/>
          </a:p>
        </p:txBody>
      </p:sp>
      <p:sp>
        <p:nvSpPr>
          <p:cNvPr id="8" name="Shape 7"/>
          <p:cNvSpPr/>
          <p:nvPr/>
        </p:nvSpPr>
        <p:spPr>
          <a:xfrm>
            <a:off x="457200" y="3291840"/>
            <a:ext cx="5486400" cy="283464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9" name="Text 8"/>
          <p:cNvSpPr/>
          <p:nvPr/>
        </p:nvSpPr>
        <p:spPr>
          <a:xfrm>
            <a:off x="777240" y="35204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10" name="Text 9"/>
          <p:cNvSpPr/>
          <p:nvPr/>
        </p:nvSpPr>
        <p:spPr>
          <a:xfrm>
            <a:off x="777240" y="388620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Font typeface="Arial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Classful addressing forced fixed network sizes, wasting large blocks of address space</a:t>
            </a:r>
            <a:endParaRPr lang="en-US" sz="1150" dirty="0"/>
          </a:p>
          <a:p>
            <a:pPr marL="228600" indent="-228600">
              <a:buFont typeface="Arial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needing 1,000 IP addresses had to take a full Class B block of 65,534 addresses</a:t>
            </a:r>
            <a:endParaRPr lang="en-US" sz="1150" dirty="0"/>
          </a:p>
          <a:p>
            <a:pPr marL="228600" indent="-228600">
              <a:buFont typeface="Arial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 (Classless Inter-Domain Routing) allocates addresses based on actual requirements, reducing wastage and improving scalability</a:t>
            </a:r>
            <a:endParaRPr lang="en-US" sz="1150" dirty="0"/>
          </a:p>
        </p:txBody>
      </p:sp>
      <p:sp>
        <p:nvSpPr>
          <p:cNvPr id="11" name="Shape 10"/>
          <p:cNvSpPr/>
          <p:nvPr/>
        </p:nvSpPr>
        <p:spPr>
          <a:xfrm>
            <a:off x="6263640" y="3291840"/>
            <a:ext cx="5440680" cy="283464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12" name="Text 11"/>
          <p:cNvSpPr/>
          <p:nvPr/>
        </p:nvSpPr>
        <p:spPr>
          <a:xfrm>
            <a:off x="6537960" y="350215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50" dirty="0"/>
          </a:p>
        </p:txBody>
      </p:sp>
      <p:sp>
        <p:nvSpPr>
          <p:cNvPr id="13" name="Text 12"/>
          <p:cNvSpPr/>
          <p:nvPr/>
        </p:nvSpPr>
        <p:spPr>
          <a:xfrm>
            <a:off x="6537960" y="3886200"/>
            <a:ext cx="4892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cloud platforms like AWS VPC use CIDR, not Class A, B, or C addressing. CIDR notation (e.g. 10.0.0.0/16) is what you set when creating a VPC or subnet — it defines exactly how many IP addresses you get.</a:t>
            </a:r>
            <a:endParaRPr lang="en-US" sz="1150" dirty="0"/>
          </a:p>
        </p:txBody>
      </p:sp>
      <p:sp>
        <p:nvSpPr>
          <p:cNvPr id="14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Networking</a:t>
            </a:r>
            <a:endParaRPr lang="en-US" sz="1000" dirty="0"/>
          </a:p>
        </p:txBody>
      </p:sp>
      <p:sp>
        <p:nvSpPr>
          <p:cNvPr id="15" name="Text 1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065A82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VPC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VPC — Step by Step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3560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walkthrough: Services → VPC → Create VPC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65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91109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Services and select Networking &amp; Content Delivery, then click VPC.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52344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523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 VPC.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38728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5387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48386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Name tag and an IPv4 CIDR block (your VPC's IP address range).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325112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3251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2702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Tenancy, choose Default (shared hardware, lower cost).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5111496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111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50566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 VPC to finish.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594360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065A82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594360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projects:  </a:t>
            </a: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rarely click through the console — this is usually automated with a Terraform script.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92040" y="1874520"/>
            <a:ext cx="2148840" cy="23317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27000" dist="38100" dir="5400000" algn="bl" rotWithShape="0">
              <a:srgbClr val="1A2B3C">
                <a:alpha val="15000"/>
              </a:srgbClr>
            </a:outerShdw>
          </a:effectLst>
        </p:spPr>
      </p:sp>
      <p:pic>
        <p:nvPicPr>
          <p:cNvPr id="24" name="Image 0" descr="/home/claude/work/assets/vpc_service_menu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0056" y="2002536"/>
            <a:ext cx="1892808" cy="1746504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4892040" y="3877056"/>
            <a:ext cx="2148840" cy="32918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3"/>
          <p:cNvSpPr/>
          <p:nvPr/>
        </p:nvSpPr>
        <p:spPr>
          <a:xfrm>
            <a:off x="5001768" y="3877056"/>
            <a:ext cx="1929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VPC service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178040" y="1874520"/>
            <a:ext cx="4526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27000" dist="38100" dir="5400000" algn="bl" rotWithShape="0">
              <a:srgbClr val="1A2B3C">
                <a:alpha val="15000"/>
              </a:srgbClr>
            </a:outerShdw>
          </a:effectLst>
        </p:spPr>
      </p:sp>
      <p:pic>
        <p:nvPicPr>
          <p:cNvPr id="28" name="Image 1" descr="/home/claude/work/assets/vpc_create_bt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06056" y="2002536"/>
            <a:ext cx="4270248" cy="466344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178040" y="2596896"/>
            <a:ext cx="4526280" cy="32918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0" name="Text 26"/>
          <p:cNvSpPr/>
          <p:nvPr/>
        </p:nvSpPr>
        <p:spPr>
          <a:xfrm>
            <a:off x="7287768" y="2596896"/>
            <a:ext cx="4306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 VPC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7178040" y="3063240"/>
            <a:ext cx="2148840" cy="30632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27000" dist="38100" dir="5400000" algn="bl" rotWithShape="0">
              <a:srgbClr val="1A2B3C">
                <a:alpha val="15000"/>
              </a:srgbClr>
            </a:outerShdw>
          </a:effectLst>
        </p:spPr>
      </p:sp>
      <p:pic>
        <p:nvPicPr>
          <p:cNvPr id="32" name="Image 2" descr="/home/claude/work/assets/vpc_details_form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06056" y="3191256"/>
            <a:ext cx="1892808" cy="2478024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7178040" y="5797296"/>
            <a:ext cx="2148840" cy="32918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4" name="Text 29"/>
          <p:cNvSpPr/>
          <p:nvPr/>
        </p:nvSpPr>
        <p:spPr>
          <a:xfrm>
            <a:off x="7287768" y="5797296"/>
            <a:ext cx="1929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IPv4 CIDR block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4892040" y="4343400"/>
            <a:ext cx="4297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27000" dist="38100" dir="5400000" algn="bl" rotWithShape="0">
              <a:srgbClr val="1A2B3C">
                <a:alpha val="15000"/>
              </a:srgbClr>
            </a:outerShdw>
          </a:effectLst>
        </p:spPr>
      </p:sp>
      <p:pic>
        <p:nvPicPr>
          <p:cNvPr id="36" name="Image 3" descr="/home/claude/work/assets/vpc_tenancy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020056" y="4471416"/>
            <a:ext cx="4041648" cy="1197864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4892040" y="5797296"/>
            <a:ext cx="4297680" cy="32918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8" name="Text 32"/>
          <p:cNvSpPr/>
          <p:nvPr/>
        </p:nvSpPr>
        <p:spPr>
          <a:xfrm>
            <a:off x="5001768" y="5797296"/>
            <a:ext cx="4078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Tenancy: Default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Networking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SUBNETS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Subnets?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3560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 your VPC's IP range into smaller, manageable zones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777240" cy="777240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work/assets/icon_sub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" y="216804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92024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subnet is a smaller slice of your VPC's IP address range, and it always lives inside one Availability Zone. Inside a subnet, you launch resources such as EC2 servers.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3017520"/>
            <a:ext cx="6949440" cy="1600200"/>
          </a:xfrm>
          <a:prstGeom prst="roundRect">
            <a:avLst>
              <a:gd name="adj" fmla="val 5714"/>
            </a:avLst>
          </a:prstGeom>
          <a:solidFill>
            <a:srgbClr val="F3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342900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" y="342900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194560" y="342900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514600" y="342900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14" name="Text 11"/>
          <p:cNvSpPr/>
          <p:nvPr/>
        </p:nvSpPr>
        <p:spPr>
          <a:xfrm>
            <a:off x="2514600" y="342900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995928" y="342900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315968" y="342900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17" name="Text 14"/>
          <p:cNvSpPr/>
          <p:nvPr/>
        </p:nvSpPr>
        <p:spPr>
          <a:xfrm>
            <a:off x="4315968" y="342900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Zone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797296" y="342900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117336" y="342900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ED8936"/>
          </a:solidFill>
          <a:ln/>
        </p:spPr>
      </p:sp>
      <p:sp>
        <p:nvSpPr>
          <p:cNvPr id="20" name="Text 17"/>
          <p:cNvSpPr/>
          <p:nvPr/>
        </p:nvSpPr>
        <p:spPr>
          <a:xfrm>
            <a:off x="6117336" y="342900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4754880"/>
            <a:ext cx="3364992" cy="1417320"/>
          </a:xfrm>
          <a:prstGeom prst="roundRect">
            <a:avLst>
              <a:gd name="adj" fmla="val 6452"/>
            </a:avLst>
          </a:prstGeom>
          <a:solidFill>
            <a:srgbClr val="ED8936">
              <a:alpha val="12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" y="489204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
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to an Internet Gateway — reachable from the internet.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041648" y="4754880"/>
            <a:ext cx="3364992" cy="1417320"/>
          </a:xfrm>
          <a:prstGeom prst="roundRect">
            <a:avLst>
              <a:gd name="adj" fmla="val 6452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4242816" y="489204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
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to a NAT Gateway — hidden from direct internet access.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589520" y="3017520"/>
            <a:ext cx="411480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27000" dist="38100" dir="5400000" algn="bl" rotWithShape="0">
              <a:srgbClr val="1A2B3C">
                <a:alpha val="15000"/>
              </a:srgbClr>
            </a:outerShdw>
          </a:effectLst>
        </p:spPr>
      </p:sp>
      <p:pic>
        <p:nvPicPr>
          <p:cNvPr id="26" name="Image 1" descr="/home/claude/work/assets/subnet_creat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17536" y="3145536"/>
            <a:ext cx="3858768" cy="2569464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589520" y="5843016"/>
            <a:ext cx="4114800" cy="3291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4"/>
          <p:cNvSpPr/>
          <p:nvPr/>
        </p:nvSpPr>
        <p:spPr>
          <a:xfrm>
            <a:off x="7699248" y="5843016"/>
            <a:ext cx="3895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subnet successfully created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Networking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SUBNETS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Subnet — Step by Step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3560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walkthrough: VPC → Subnets → Create Subnet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65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91109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VPC console, click Create subnet.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5234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523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VPC you created earlier — the subnet must belong to 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38728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5387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48386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subnet name, Availability Zone, and its IPv4 CIDR block.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325112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3251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2702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 subnet to finish.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5111496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111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50566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to create as many public and private subnets as your design needs.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92040" y="1874520"/>
            <a:ext cx="32461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27000" dist="38100" dir="5400000" algn="bl" rotWithShape="0">
              <a:srgbClr val="1A2B3C">
                <a:alpha val="15000"/>
              </a:srgbClr>
            </a:outerShdw>
          </a:effectLst>
        </p:spPr>
      </p:sp>
      <p:pic>
        <p:nvPicPr>
          <p:cNvPr id="22" name="Image 0" descr="/home/claude/work/assets/subnet_create_select_vp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0056" y="2002536"/>
            <a:ext cx="2990088" cy="1837944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892040" y="3968496"/>
            <a:ext cx="3246120" cy="3291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1"/>
          <p:cNvSpPr/>
          <p:nvPr/>
        </p:nvSpPr>
        <p:spPr>
          <a:xfrm>
            <a:off x="5001768" y="3968496"/>
            <a:ext cx="3026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parent VPC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275320" y="1874520"/>
            <a:ext cx="3383280" cy="39776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27000" dist="38100" dir="5400000" algn="bl" rotWithShape="0">
              <a:srgbClr val="1A2B3C">
                <a:alpha val="15000"/>
              </a:srgbClr>
            </a:outerShdw>
          </a:effectLst>
        </p:spPr>
      </p:sp>
      <p:pic>
        <p:nvPicPr>
          <p:cNvPr id="26" name="Image 1" descr="/home/claude/work/assets/subnet_details_form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03336" y="2002536"/>
            <a:ext cx="3127248" cy="3392424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8275320" y="5522976"/>
            <a:ext cx="3383280" cy="3291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4"/>
          <p:cNvSpPr/>
          <p:nvPr/>
        </p:nvSpPr>
        <p:spPr>
          <a:xfrm>
            <a:off x="8385048" y="552297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AZ &amp; CIDR block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4892040" y="44348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27000" dist="38100" dir="5400000" algn="bl" rotWithShape="0">
              <a:srgbClr val="1A2B3C">
                <a:alpha val="15000"/>
              </a:srgbClr>
            </a:outerShdw>
          </a:effectLst>
        </p:spPr>
      </p:sp>
      <p:pic>
        <p:nvPicPr>
          <p:cNvPr id="30" name="Image 2" descr="/home/claude/work/assets/subnet_creat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20056" y="4562856"/>
            <a:ext cx="2990088" cy="832104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4892040" y="5522976"/>
            <a:ext cx="3246120" cy="3291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2" name="Text 27"/>
          <p:cNvSpPr/>
          <p:nvPr/>
        </p:nvSpPr>
        <p:spPr>
          <a:xfrm>
            <a:off x="5001768" y="5522976"/>
            <a:ext cx="3026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created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Networking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D893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INTERNET GATEWAY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Internet Gateway?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3560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doorway between your VPC and the public internet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777240" cy="777240"/>
          </a:xfrm>
          <a:prstGeom prst="ellipse">
            <a:avLst/>
          </a:prstGeom>
          <a:solidFill>
            <a:srgbClr val="ED8936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work/assets/icon_ig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" y="216804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920240"/>
            <a:ext cx="9966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Internet Gateway (IGW) is a vital component that enables communication between a VPC and the internet. It acts as a bridge, allowing resources in public subnets — like EC2 instances — to connect out to the internet, and to receive connections back.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3291840"/>
            <a:ext cx="5486400" cy="2834640"/>
          </a:xfrm>
          <a:prstGeom prst="roundRect">
            <a:avLst>
              <a:gd name="adj" fmla="val 3226"/>
            </a:avLst>
          </a:prstGeom>
          <a:solidFill>
            <a:srgbClr val="0B1F33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5204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NEED IT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388620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Internet Gateway attached, a VPC has no way to send or receive any traffic from the internet at all — every request to an outside URL, and every visitor trying to reach your website, needs this bridge to exist first.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263640" y="3291840"/>
            <a:ext cx="5440680" cy="2834640"/>
          </a:xfrm>
          <a:prstGeom prst="roundRect">
            <a:avLst>
              <a:gd name="adj" fmla="val 3226"/>
            </a:avLst>
          </a:prstGeom>
          <a:solidFill>
            <a:srgbClr val="F3F7FA"/>
          </a:solidFill>
          <a:ln/>
        </p:spPr>
      </p:sp>
      <p:sp>
        <p:nvSpPr>
          <p:cNvPr id="13" name="Text 10"/>
          <p:cNvSpPr/>
          <p:nvPr/>
        </p:nvSpPr>
        <p:spPr>
          <a:xfrm>
            <a:off x="6537960" y="350215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537960" y="3886200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IGW is created separately, then attached to a VPC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subnet becomes "public" only once its route table sends internet-bound traffic to the IGW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IGW is attached to one VPC at a time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Networking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D893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INTERNET GATEWAY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&amp; Attaching an Internet Gateway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3560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walkthrough: VPC → Internet Gateways → Create → Attach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10896" cy="310896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65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91109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Internet Gateways and click Create internet gateway.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52344"/>
            <a:ext cx="310896" cy="310896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523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name, then click Create internet gateway.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38728"/>
            <a:ext cx="310896" cy="310896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5387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48386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new gateway selected, click Actions → Attach to VPC.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325112"/>
            <a:ext cx="310896" cy="310896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3251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2702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VPC you created and confirm.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5111496"/>
            <a:ext cx="310896" cy="310896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111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505663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gateway's state changes to Attached — your VPC can now reach the internet.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83480" y="1874520"/>
            <a:ext cx="6720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27000" dist="38100" dir="5400000" algn="bl" rotWithShape="0">
              <a:srgbClr val="1A2B3C">
                <a:alpha val="15000"/>
              </a:srgbClr>
            </a:outerShdw>
          </a:effectLst>
        </p:spPr>
      </p:sp>
      <p:pic>
        <p:nvPicPr>
          <p:cNvPr id="22" name="Image 0" descr="/home/claude/work/assets/igw_creat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11496" y="2002536"/>
            <a:ext cx="6464808" cy="1746504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983480" y="3877056"/>
            <a:ext cx="6720840" cy="329184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4" name="Text 21"/>
          <p:cNvSpPr/>
          <p:nvPr/>
        </p:nvSpPr>
        <p:spPr>
          <a:xfrm>
            <a:off x="5093208" y="3877056"/>
            <a:ext cx="6501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1–2 · Create the internet gateway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983480" y="4343400"/>
            <a:ext cx="67208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27000" dist="38100" dir="5400000" algn="bl" rotWithShape="0">
              <a:srgbClr val="1A2B3C">
                <a:alpha val="15000"/>
              </a:srgbClr>
            </a:outerShdw>
          </a:effectLst>
        </p:spPr>
      </p:sp>
      <p:pic>
        <p:nvPicPr>
          <p:cNvPr id="26" name="Image 1" descr="/home/claude/work/assets/igw_attach_vpc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11496" y="4471416"/>
            <a:ext cx="6464808" cy="1014984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4983480" y="5614416"/>
            <a:ext cx="6720840" cy="329184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8" name="Text 24"/>
          <p:cNvSpPr/>
          <p:nvPr/>
        </p:nvSpPr>
        <p:spPr>
          <a:xfrm>
            <a:off x="5093208" y="5614416"/>
            <a:ext cx="6501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3–4 · Attach it to your VPC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Networking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21295C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· ROUTE TABLES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Route Tables?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3560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signposts that decide where every packet of traffic is allowed to go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777240" cy="777240"/>
          </a:xfrm>
          <a:prstGeom prst="ellipse">
            <a:avLst/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work/assets/icon_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" y="216804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92024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 table is a set of rules, called routes, that determine where network traffic from your subnet is directed. Every subnet must be associated with exactly one route table.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306324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3F7FA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3200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ROUTE TABLE  (VPC CIDR 10.0.0.0/16)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3520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
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10.0.0.0/16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337560" y="3520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
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989320" y="35204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
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within the VPC stays local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4343400"/>
            <a:ext cx="11247120" cy="1783080"/>
          </a:xfrm>
          <a:prstGeom prst="roundRect">
            <a:avLst>
              <a:gd name="adj" fmla="val 5128"/>
            </a:avLst>
          </a:prstGeom>
          <a:solidFill>
            <a:srgbClr val="21295C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4526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SUBNET BECOMES "PUBLIC"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40" y="4892040"/>
            <a:ext cx="10515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 a route table only knows how to reach addresses inside the VPC (the local route). To let a subnet reach the wider internet, you add one more route — destination 0.0.0.0/0 ("anywhere"), target = your Internet Gateway. Any request outside the 10.x range now gets forwarded to the IGW instead of being silently blocked.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Networking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21295C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· ROUTE TABLES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&amp; Associating a Route Table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3560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walkthrough: VPC → Route Tables → Create route table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10896" cy="31089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65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91109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Route Tables and click Create route table.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52344"/>
            <a:ext cx="310896" cy="31089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523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name and select the VPC it belongs to, then click Create route table.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38728"/>
            <a:ext cx="310896" cy="31089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5387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48386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 it only contains the local route for your VPC's IP range.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325112"/>
            <a:ext cx="310896" cy="31089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3251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2702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traffic from an IP outside that range is dropped — until you add a route for it.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5111496"/>
            <a:ext cx="310896" cy="31089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111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505663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associate this table with your subnet, and add an internet route.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83480" y="1874520"/>
            <a:ext cx="67208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27000" dist="38100" dir="5400000" algn="bl" rotWithShape="0">
              <a:srgbClr val="1A2B3C">
                <a:alpha val="15000"/>
              </a:srgbClr>
            </a:outerShdw>
          </a:effectLst>
        </p:spPr>
      </p:sp>
      <p:pic>
        <p:nvPicPr>
          <p:cNvPr id="22" name="Image 0" descr="/home/claude/work/assets/rt_creat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11496" y="2002536"/>
            <a:ext cx="6464808" cy="2157984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983480" y="4288536"/>
            <a:ext cx="6720840" cy="329184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4" name="Text 21"/>
          <p:cNvSpPr/>
          <p:nvPr/>
        </p:nvSpPr>
        <p:spPr>
          <a:xfrm>
            <a:off x="5093208" y="4288536"/>
            <a:ext cx="6501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route table for your VPC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983480" y="4846320"/>
            <a:ext cx="6720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27000" dist="38100" dir="5400000" algn="bl" rotWithShape="0">
              <a:srgbClr val="1A2B3C">
                <a:alpha val="15000"/>
              </a:srgbClr>
            </a:outerShdw>
          </a:effectLst>
        </p:spPr>
      </p:sp>
      <p:pic>
        <p:nvPicPr>
          <p:cNvPr id="26" name="Image 1" descr="/home/claude/work/assets/rt_ip_block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11496" y="4974336"/>
            <a:ext cx="6464808" cy="694944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4983480" y="5797296"/>
            <a:ext cx="6720840" cy="329184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8" name="Text 24"/>
          <p:cNvSpPr/>
          <p:nvPr/>
        </p:nvSpPr>
        <p:spPr>
          <a:xfrm>
            <a:off x="5093208" y="5797296"/>
            <a:ext cx="6501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local route (10.0.0.0/16 → local)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Networking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21295C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· ROUTE TABLES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the Internet Route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3560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extra rule is what turns a subnet public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10896" cy="31089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65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91109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route table and click Edit routes.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52344"/>
            <a:ext cx="310896" cy="31089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523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Add route.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38728"/>
            <a:ext cx="310896" cy="31089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5387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48386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Destination to 0.0.0.0/0 and Target to your Internet Gateway, then Save changes.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325112"/>
            <a:ext cx="310896" cy="31089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3251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27024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 to the subnet and associate it with this route table.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5111496"/>
            <a:ext cx="310896" cy="31089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111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505663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subnet's route table now shows the new rule — it is officially public.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1874520"/>
            <a:ext cx="7040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27000" dist="38100" dir="5400000" algn="bl" rotWithShape="0">
              <a:srgbClr val="1A2B3C">
                <a:alpha val="15000"/>
              </a:srgbClr>
            </a:outerShdw>
          </a:effectLst>
        </p:spPr>
      </p:sp>
      <p:pic>
        <p:nvPicPr>
          <p:cNvPr id="22" name="Image 0" descr="/home/claude/work/assets/rt_edit_rout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91456" y="2002536"/>
            <a:ext cx="6784848" cy="512064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663440" y="2642616"/>
            <a:ext cx="7040880" cy="329184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4" name="Text 21"/>
          <p:cNvSpPr/>
          <p:nvPr/>
        </p:nvSpPr>
        <p:spPr>
          <a:xfrm>
            <a:off x="4773168" y="2642616"/>
            <a:ext cx="6821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Edit routes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663440" y="310896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27000" dist="38100" dir="5400000" algn="bl" rotWithShape="0">
              <a:srgbClr val="1A2B3C">
                <a:alpha val="15000"/>
              </a:srgbClr>
            </a:outerShdw>
          </a:effectLst>
        </p:spPr>
      </p:sp>
      <p:pic>
        <p:nvPicPr>
          <p:cNvPr id="26" name="Image 1" descr="/home/claude/work/assets/rt_add_rout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91456" y="3236976"/>
            <a:ext cx="2029968" cy="832104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4663440" y="4197096"/>
            <a:ext cx="2286000" cy="329184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8" name="Text 24"/>
          <p:cNvSpPr/>
          <p:nvPr/>
        </p:nvSpPr>
        <p:spPr>
          <a:xfrm>
            <a:off x="4773168" y="4197096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Add route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7086600" y="3108960"/>
            <a:ext cx="4617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27000" dist="38100" dir="5400000" algn="bl" rotWithShape="0">
              <a:srgbClr val="1A2B3C">
                <a:alpha val="15000"/>
              </a:srgbClr>
            </a:outerShdw>
          </a:effectLst>
        </p:spPr>
      </p:sp>
      <p:pic>
        <p:nvPicPr>
          <p:cNvPr id="30" name="Image 2" descr="/home/claude/work/assets/rt_add_rule_igw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214616" y="3236976"/>
            <a:ext cx="4361688" cy="832104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7086600" y="4197096"/>
            <a:ext cx="4617720" cy="329184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2" name="Text 27"/>
          <p:cNvSpPr/>
          <p:nvPr/>
        </p:nvSpPr>
        <p:spPr>
          <a:xfrm>
            <a:off x="7196328" y="4197096"/>
            <a:ext cx="4398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0.0.0.0/0 → Internet Gateway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4663440" y="4663440"/>
            <a:ext cx="7040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27000" dist="38100" dir="5400000" algn="bl" rotWithShape="0">
              <a:srgbClr val="1A2B3C">
                <a:alpha val="15000"/>
              </a:srgbClr>
            </a:outerShdw>
          </a:effectLst>
        </p:spPr>
      </p:sp>
      <p:pic>
        <p:nvPicPr>
          <p:cNvPr id="34" name="Image 3" descr="/home/claude/work/assets/rt_subnet_view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91456" y="4791456"/>
            <a:ext cx="6784848" cy="832104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4663440" y="5751576"/>
            <a:ext cx="7040880" cy="329184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6" name="Text 30"/>
          <p:cNvSpPr/>
          <p:nvPr/>
        </p:nvSpPr>
        <p:spPr>
          <a:xfrm>
            <a:off x="4773168" y="5751576"/>
            <a:ext cx="6821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now shows the internet route — it's public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Networking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B5511B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55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 · NAT GATEWAY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NAT Gateway?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3560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internet access for private subnets — without exposing them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777240" cy="777240"/>
          </a:xfrm>
          <a:prstGeom prst="ellipse">
            <a:avLst/>
          </a:prstGeom>
          <a:solidFill>
            <a:srgbClr val="B5511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work/assets/icon_n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" y="216804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920240"/>
            <a:ext cx="9966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subnet's route table sends internet traffic to a NAT Gateway instead of an Internet Gateway, that subnet stays private. A NAT Gateway lets servers inside it start outbound connections (e.g. downloading updates) while blocking anyone on the internet from initiating a connection in.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63040" y="306324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i="1" dirty="0">
                <a:solidFill>
                  <a:srgbClr val="B55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know:  </a:t>
            </a:r>
            <a:r>
              <a:rPr lang="en-US" sz="12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 Gateway itself is created inside a public subnet and needs its own Elastic (fixed) IP address — private subnets then route their internet-bound traffic to it.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3611880"/>
            <a:ext cx="5440680" cy="2743200"/>
          </a:xfrm>
          <a:prstGeom prst="roundRect">
            <a:avLst>
              <a:gd name="adj" fmla="val 3333"/>
            </a:avLst>
          </a:prstGeom>
          <a:solidFill>
            <a:srgbClr val="ED8936">
              <a:alpha val="10000"/>
            </a:srgbClr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794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 PATH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420624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Server  →  Route Table (0.0.0.0/0)  →  Internet Gateway  →  Internet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31520" y="507492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Two-way: the server can be reached directly from the internet (e.g. a public website).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63640" y="3611880"/>
            <a:ext cx="5440680" cy="2743200"/>
          </a:xfrm>
          <a:prstGeom prst="roundRect">
            <a:avLst>
              <a:gd name="adj" fmla="val 3333"/>
            </a:avLst>
          </a:prstGeom>
          <a:solidFill>
            <a:srgbClr val="B5511B">
              <a:alpha val="10000"/>
            </a:srgbClr>
          </a:solidFill>
          <a:ln w="12700">
            <a:solidFill>
              <a:srgbClr val="B5511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37960" y="3794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55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 PATH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537960" y="420624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Server  →  Route Table (0.0.0.0/0)  →  NAT Gateway  →  Internet Gateway  →  Internet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537960" y="507492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only: the server can reach out, but nobody on the internet can reach in directly.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Networking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21295C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Subnet vs. Private Subnet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3560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five building blocks, compared side by side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566160" cy="502920"/>
          </a:xfrm>
          <a:prstGeom prst="rect">
            <a:avLst/>
          </a:prstGeom>
          <a:solidFill>
            <a:srgbClr val="21295C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659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023360" y="1965960"/>
            <a:ext cx="3840480" cy="502920"/>
          </a:xfrm>
          <a:prstGeom prst="rect">
            <a:avLst/>
          </a:prstGeom>
          <a:solidFill>
            <a:srgbClr val="21295C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19659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1965960"/>
            <a:ext cx="3840480" cy="502920"/>
          </a:xfrm>
          <a:prstGeom prst="rect">
            <a:avLst/>
          </a:prstGeom>
          <a:solidFill>
            <a:srgbClr val="21295C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0" y="19659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566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6888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route target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023360" y="2468880"/>
            <a:ext cx="3840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246888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863840" y="2468880"/>
            <a:ext cx="3840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0" y="246888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55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035808"/>
            <a:ext cx="3566160" cy="566928"/>
          </a:xfrm>
          <a:prstGeom prst="rect">
            <a:avLst/>
          </a:prstGeom>
          <a:solidFill>
            <a:srgbClr val="F3F7FA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03580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directly from internet?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023360" y="3035808"/>
            <a:ext cx="3840480" cy="566928"/>
          </a:xfrm>
          <a:prstGeom prst="rect">
            <a:avLst/>
          </a:prstGeom>
          <a:solidFill>
            <a:srgbClr val="F3F7FA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0520" y="3035808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863840" y="3035808"/>
            <a:ext cx="3840480" cy="566928"/>
          </a:xfrm>
          <a:prstGeom prst="rect">
            <a:avLst/>
          </a:prstGeom>
          <a:solidFill>
            <a:srgbClr val="F3F7FA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01000" y="3035808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55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3602736"/>
            <a:ext cx="3566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60273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start outbound connections?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023360" y="3602736"/>
            <a:ext cx="3840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3602736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863840" y="3602736"/>
            <a:ext cx="3840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01000" y="3602736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55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7200" y="4169664"/>
            <a:ext cx="3566160" cy="566928"/>
          </a:xfrm>
          <a:prstGeom prst="rect">
            <a:avLst/>
          </a:prstGeom>
          <a:solidFill>
            <a:srgbClr val="F3F7FA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16966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023360" y="4169664"/>
            <a:ext cx="3840480" cy="566928"/>
          </a:xfrm>
          <a:prstGeom prst="rect">
            <a:avLst/>
          </a:prstGeom>
          <a:solidFill>
            <a:srgbClr val="F3F7FA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60520" y="4169664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servers, load balancers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863840" y="4169664"/>
            <a:ext cx="3840480" cy="566928"/>
          </a:xfrm>
          <a:prstGeom prst="rect">
            <a:avLst/>
          </a:prstGeom>
          <a:solidFill>
            <a:srgbClr val="F3F7FA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01000" y="4169664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55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Databases, app/backend servers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57200" y="4736592"/>
            <a:ext cx="3566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73659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to route table rule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023360" y="4736592"/>
            <a:ext cx="3840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60520" y="4736592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0.0.0.0/0 → igw-xxxx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863840" y="4736592"/>
            <a:ext cx="3840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01000" y="4736592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55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0.0.0.0/0 → nat-xxxx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Networking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D893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All Fits Together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F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VPC, two subnets, and the components that connect them to the internet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0881360" cy="4434840"/>
          </a:xfrm>
          <a:prstGeom prst="roundRect">
            <a:avLst>
              <a:gd name="adj" fmla="val 2474"/>
            </a:avLst>
          </a:prstGeom>
          <a:solidFill>
            <a:srgbClr val="12324A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  10.0.0.0/16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835640" y="868680"/>
            <a:ext cx="548640" cy="548640"/>
          </a:xfrm>
          <a:prstGeom prst="ellipse">
            <a:avLst/>
          </a:prstGeom>
          <a:solidFill>
            <a:srgbClr val="ED8936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0" descr="/home/claude/work/assets/icon_ig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286" y="1011326"/>
            <a:ext cx="263347" cy="26334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966960" y="14447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646920" y="162306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ED8936"/>
          </a:solidFill>
          <a:ln/>
        </p:spPr>
      </p:sp>
      <p:sp>
        <p:nvSpPr>
          <p:cNvPr id="12" name="Text 9"/>
          <p:cNvSpPr/>
          <p:nvPr/>
        </p:nvSpPr>
        <p:spPr>
          <a:xfrm>
            <a:off x="9646920" y="16230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14400" y="2514600"/>
            <a:ext cx="4663440" cy="1783080"/>
          </a:xfrm>
          <a:prstGeom prst="roundRect">
            <a:avLst>
              <a:gd name="adj" fmla="val 5128"/>
            </a:avLst>
          </a:prstGeom>
          <a:solidFill>
            <a:srgbClr val="ED8936">
              <a:alpha val="15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26334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143000" y="301752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1325880" y="3154680"/>
            <a:ext cx="457200" cy="457200"/>
          </a:xfrm>
          <a:prstGeom prst="ellipse">
            <a:avLst/>
          </a:prstGeom>
          <a:solidFill>
            <a:srgbClr val="065A82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1" descr="/home/claude/work/assets/icon_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752" y="3273552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828800" y="315468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246120" y="3017520"/>
            <a:ext cx="21488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20" name="Shape 16"/>
          <p:cNvSpPr/>
          <p:nvPr/>
        </p:nvSpPr>
        <p:spPr>
          <a:xfrm>
            <a:off x="3429000" y="3154680"/>
            <a:ext cx="457200" cy="457200"/>
          </a:xfrm>
          <a:prstGeom prst="ellipse">
            <a:avLst/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2" descr="/home/claude/work/assets/icon_ro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872" y="3273552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931920" y="315468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</a:t>
            </a:r>
            <a:endParaRPr lang="en-US" sz="9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0.0.0.0/0 → IGW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914400" y="4572000"/>
            <a:ext cx="4663440" cy="1691640"/>
          </a:xfrm>
          <a:prstGeom prst="roundRect">
            <a:avLst>
              <a:gd name="adj" fmla="val 5405"/>
            </a:avLst>
          </a:prstGeom>
          <a:solidFill>
            <a:srgbClr val="1C7293">
              <a:alpha val="15000"/>
            </a:srgbClr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097280" y="4681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1143000" y="502920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26" name="Shape 21"/>
          <p:cNvSpPr/>
          <p:nvPr/>
        </p:nvSpPr>
        <p:spPr>
          <a:xfrm>
            <a:off x="1325880" y="5148072"/>
            <a:ext cx="457200" cy="457200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7" name="Image 3" descr="/home/claude/work/assets/icon_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752" y="5266944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828800" y="5148072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DB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246120" y="5029200"/>
            <a:ext cx="21488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30" name="Shape 24"/>
          <p:cNvSpPr/>
          <p:nvPr/>
        </p:nvSpPr>
        <p:spPr>
          <a:xfrm>
            <a:off x="3429000" y="5148072"/>
            <a:ext cx="457200" cy="457200"/>
          </a:xfrm>
          <a:prstGeom prst="ellipse">
            <a:avLst/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1" name="Image 4" descr="/home/claude/work/assets/icon_ro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872" y="5266944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931920" y="5148072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</a:t>
            </a:r>
            <a:endParaRPr lang="en-US" sz="9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0.0.0.0/0 → NAT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6492240" y="370332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B5511B"/>
          </a:solidFill>
          <a:ln/>
        </p:spPr>
      </p:sp>
      <p:sp>
        <p:nvSpPr>
          <p:cNvPr id="34" name="Text 27"/>
          <p:cNvSpPr/>
          <p:nvPr/>
        </p:nvSpPr>
        <p:spPr>
          <a:xfrm>
            <a:off x="6492240" y="37033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5577840" y="3566160"/>
            <a:ext cx="914400" cy="502920"/>
          </a:xfrm>
          <a:prstGeom prst="line">
            <a:avLst/>
          </a:prstGeom>
          <a:noFill/>
          <a:ln w="25400">
            <a:solidFill>
              <a:srgbClr val="ED893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 flipV="1">
            <a:off x="5577840" y="4206240"/>
            <a:ext cx="914400" cy="11887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 flipV="1">
            <a:off x="10442448" y="1274671"/>
            <a:ext cx="464548" cy="389536"/>
          </a:xfrm>
          <a:prstGeom prst="line">
            <a:avLst/>
          </a:prstGeom>
          <a:noFill/>
          <a:ln w="25400">
            <a:solidFill>
              <a:srgbClr val="ED8936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Networking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1" name="Shape 29"/>
          <p:cNvSpPr/>
          <p:nvPr/>
        </p:nvSpPr>
        <p:spPr>
          <a:xfrm flipV="1">
            <a:off x="6426436" y="1719072"/>
            <a:ext cx="3357644" cy="242316"/>
          </a:xfrm>
          <a:prstGeom prst="line">
            <a:avLst/>
          </a:prstGeom>
          <a:noFill/>
          <a:ln w="25400">
            <a:solidFill>
              <a:srgbClr val="ED8936"/>
            </a:solidFill>
            <a:prstDash val="solid"/>
          </a:ln>
        </p:spPr>
      </p:sp>
      <p:sp>
        <p:nvSpPr>
          <p:cNvPr id="42" name="Shape 29"/>
          <p:cNvSpPr/>
          <p:nvPr/>
        </p:nvSpPr>
        <p:spPr>
          <a:xfrm flipV="1">
            <a:off x="5577840" y="1965960"/>
            <a:ext cx="665716" cy="1394460"/>
          </a:xfrm>
          <a:prstGeom prst="line">
            <a:avLst/>
          </a:prstGeom>
          <a:noFill/>
          <a:ln w="25400">
            <a:solidFill>
              <a:srgbClr val="ED8936"/>
            </a:solidFill>
            <a:prstDash val="solid"/>
          </a:ln>
        </p:spPr>
      </p:sp>
      <p:sp>
        <p:nvSpPr>
          <p:cNvPr id="43" name="TextBox 42"/>
          <p:cNvSpPr txBox="1"/>
          <p:nvPr/>
        </p:nvSpPr>
        <p:spPr>
          <a:xfrm>
            <a:off x="10605331" y="615297"/>
            <a:ext cx="10340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AF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dirty="0"/>
          </a:p>
          <a:p>
            <a:endParaRPr lang="te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2434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kern="0" spc="200" dirty="0">
                <a:solidFill>
                  <a:srgbClr val="E88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</a:t>
            </a:r>
            <a:endParaRPr lang="en-US" sz="1100" dirty="0">
              <a:solidFill>
                <a:prstClr val="black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Campus Analogy, Visually</a:t>
            </a:r>
            <a:endParaRPr lang="en-US" sz="3000" dirty="0">
              <a:solidFill>
                <a:prstClr val="black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AEB9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idea, mapped to how AWS actually routes traffic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0" y="1965960"/>
            <a:ext cx="8988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AEB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(AWS)</a:t>
            </a:r>
            <a:endParaRPr lang="en-US" sz="1300" dirty="0">
              <a:solidFill>
                <a:prstClr val="black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2757292" y="2296041"/>
            <a:ext cx="8988552" cy="3931920"/>
          </a:xfrm>
          <a:prstGeom prst="roundRect">
            <a:avLst>
              <a:gd name="adj" fmla="val 1860"/>
            </a:avLst>
          </a:prstGeom>
          <a:solidFill>
            <a:srgbClr val="13283F"/>
          </a:solidFill>
          <a:ln w="19050">
            <a:solidFill>
              <a:srgbClr val="2F8F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 (Campus)</a:t>
            </a:r>
            <a:endParaRPr lang="en-US" sz="1300" dirty="0">
              <a:solidFill>
                <a:prstClr val="black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945636" y="292608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885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74236" y="307238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Building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174236" y="343814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(Subnet)</a:t>
            </a:r>
            <a:endParaRPr lang="en-US" sz="1100" dirty="0">
              <a:solidFill>
                <a:prstClr val="black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420356" y="292608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8F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48956" y="307238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Building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48956" y="343814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(Subnet)</a:t>
            </a:r>
            <a:endParaRPr lang="en-US" sz="1100" dirty="0">
              <a:solidFill>
                <a:prstClr val="black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500116" y="3840480"/>
            <a:ext cx="1568571" cy="365760"/>
          </a:xfrm>
          <a:prstGeom prst="line">
            <a:avLst/>
          </a:prstGeom>
          <a:noFill/>
          <a:ln w="19050">
            <a:solidFill>
              <a:srgbClr val="E885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7306654" y="3840480"/>
            <a:ext cx="1668182" cy="365760"/>
          </a:xfrm>
          <a:prstGeom prst="line">
            <a:avLst/>
          </a:prstGeom>
          <a:noFill/>
          <a:ln w="19050">
            <a:solidFill>
              <a:srgbClr val="2F8F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91556" y="420624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1E3A54"/>
          </a:solidFill>
          <a:ln w="12700">
            <a:solidFill>
              <a:srgbClr val="AEB9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91556" y="4206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Table  (Roads)</a:t>
            </a:r>
            <a:endParaRPr lang="en-US" sz="1300" dirty="0">
              <a:solidFill>
                <a:prstClr val="black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237476" y="4709160"/>
            <a:ext cx="914" cy="365760"/>
          </a:xfrm>
          <a:prstGeom prst="line">
            <a:avLst/>
          </a:prstGeom>
          <a:noFill/>
          <a:ln w="19050">
            <a:solidFill>
              <a:srgbClr val="AEB9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54396" y="507492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E8853A"/>
          </a:solidFill>
          <a:ln/>
        </p:spPr>
      </p:sp>
      <p:sp>
        <p:nvSpPr>
          <p:cNvPr id="21" name="Text 19"/>
          <p:cNvSpPr/>
          <p:nvPr/>
        </p:nvSpPr>
        <p:spPr>
          <a:xfrm>
            <a:off x="5454396" y="5074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 Gateway  (Staff Exit Gate)</a:t>
            </a:r>
            <a:endParaRPr lang="en-US" sz="1300" dirty="0">
              <a:solidFill>
                <a:prstClr val="black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299466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E8853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9946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Gateway</a:t>
            </a:r>
            <a:endParaRPr lang="en-US" sz="1300" dirty="0">
              <a:solidFill>
                <a:prstClr val="black"/>
              </a:solidFill>
            </a:endParaRPr>
          </a:p>
          <a:p>
            <a:pPr algn="ctr">
              <a:lnSpc>
                <a:spcPts val="1600"/>
              </a:lnSpc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(Main Gate)</a:t>
            </a:r>
            <a:endParaRPr lang="en-US" sz="1300" dirty="0">
              <a:solidFill>
                <a:prstClr val="black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 flipV="1">
            <a:off x="1175004" y="3346705"/>
            <a:ext cx="1568196" cy="35662"/>
          </a:xfrm>
          <a:prstGeom prst="line">
            <a:avLst/>
          </a:prstGeom>
          <a:noFill/>
          <a:ln w="22225">
            <a:solidFill>
              <a:srgbClr val="E8853A"/>
            </a:solidFill>
            <a:prstDash val="solid"/>
            <a:headEnd type="triangl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377440" y="3346705"/>
            <a:ext cx="1568196" cy="196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i="1" dirty="0">
                <a:solidFill>
                  <a:schemeClr val="accent4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</a:t>
            </a:r>
            <a:endParaRPr lang="en-US" sz="10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 Networking</a:t>
            </a:r>
            <a:endParaRPr lang="en-US" sz="1000" dirty="0">
              <a:solidFill>
                <a:prstClr val="black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>
              <a:solidFill>
                <a:prstClr val="black"/>
              </a:solidFill>
            </a:endParaRPr>
          </a:p>
        </p:txBody>
      </p:sp>
      <p:sp>
        <p:nvSpPr>
          <p:cNvPr id="29" name="Shape 22"/>
          <p:cNvSpPr/>
          <p:nvPr/>
        </p:nvSpPr>
        <p:spPr>
          <a:xfrm flipV="1">
            <a:off x="2743201" y="3346703"/>
            <a:ext cx="1202435" cy="411479"/>
          </a:xfrm>
          <a:prstGeom prst="line">
            <a:avLst/>
          </a:prstGeom>
          <a:noFill/>
          <a:ln w="22225">
            <a:solidFill>
              <a:srgbClr val="E8853A"/>
            </a:solidFill>
            <a:prstDash val="solid"/>
            <a:headEnd type="triangle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3513014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457200" y="41148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21295C">
              <a:alpha val="12000"/>
            </a:srgbClr>
          </a:solidFill>
          <a:ln/>
        </p:spPr>
      </p:sp>
      <p:sp>
        <p:nvSpPr>
          <p:cNvPr id="3" name="Text 2"/>
          <p:cNvSpPr/>
          <p:nvPr/>
        </p:nvSpPr>
        <p:spPr>
          <a:xfrm>
            <a:off x="457200" y="4114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100" dirty="0"/>
          </a:p>
        </p:txBody>
      </p:sp>
      <p:sp>
        <p:nvSpPr>
          <p:cNvPr id="4" name="Text 3"/>
          <p:cNvSpPr/>
          <p:nvPr/>
        </p:nvSpPr>
        <p:spPr>
          <a:xfrm>
            <a:off x="45720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kern="0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Networking — A University Analogy</a:t>
            </a:r>
            <a:endParaRPr lang="en-US" sz="2800" dirty="0"/>
          </a:p>
        </p:txBody>
      </p:sp>
      <p:sp>
        <p:nvSpPr>
          <p:cNvPr id="5" name="Text 4"/>
          <p:cNvSpPr/>
          <p:nvPr/>
        </p:nvSpPr>
        <p:spPr>
          <a:xfrm>
            <a:off x="457200" y="143560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kern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each AWS building block to a familiar campus scenario</a:t>
            </a:r>
            <a:endParaRPr lang="en-US" sz="1350" dirty="0"/>
          </a:p>
        </p:txBody>
      </p:sp>
      <p:sp>
        <p:nvSpPr>
          <p:cNvPr id="6" name="Shape 5"/>
          <p:cNvSpPr/>
          <p:nvPr/>
        </p:nvSpPr>
        <p:spPr>
          <a:xfrm>
            <a:off x="457200" y="1965960"/>
            <a:ext cx="2834640" cy="5029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7" name="Text 6"/>
          <p:cNvSpPr/>
          <p:nvPr/>
        </p:nvSpPr>
        <p:spPr>
          <a:xfrm>
            <a:off x="594360" y="1965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Component</a:t>
            </a:r>
            <a:endParaRPr lang="en-US" sz="1300" dirty="0"/>
          </a:p>
        </p:txBody>
      </p:sp>
      <p:sp>
        <p:nvSpPr>
          <p:cNvPr id="8" name="Shape 7"/>
          <p:cNvSpPr/>
          <p:nvPr/>
        </p:nvSpPr>
        <p:spPr>
          <a:xfrm>
            <a:off x="3291840" y="1965960"/>
            <a:ext cx="3657600" cy="5029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9" name="Text 8"/>
          <p:cNvSpPr/>
          <p:nvPr/>
        </p:nvSpPr>
        <p:spPr>
          <a:xfrm>
            <a:off x="3429000" y="19659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Example</a:t>
            </a:r>
            <a:endParaRPr lang="en-US" sz="1300" dirty="0"/>
          </a:p>
        </p:txBody>
      </p:sp>
      <p:sp>
        <p:nvSpPr>
          <p:cNvPr id="10" name="Shape 9"/>
          <p:cNvSpPr/>
          <p:nvPr/>
        </p:nvSpPr>
        <p:spPr>
          <a:xfrm>
            <a:off x="6949440" y="1965960"/>
            <a:ext cx="4297680" cy="5029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1" name="Text 10"/>
          <p:cNvSpPr/>
          <p:nvPr/>
        </p:nvSpPr>
        <p:spPr>
          <a:xfrm>
            <a:off x="7086600" y="19659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12" name="Shape 11"/>
          <p:cNvSpPr/>
          <p:nvPr/>
        </p:nvSpPr>
        <p:spPr>
          <a:xfrm>
            <a:off x="457200" y="2468880"/>
            <a:ext cx="2834640" cy="72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2"/>
          <p:cNvSpPr/>
          <p:nvPr/>
        </p:nvSpPr>
        <p:spPr>
          <a:xfrm>
            <a:off x="594360" y="2468880"/>
            <a:ext cx="256032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</a:t>
            </a:r>
            <a:endParaRPr lang="en-US" sz="1050" dirty="0"/>
          </a:p>
        </p:txBody>
      </p:sp>
      <p:sp>
        <p:nvSpPr>
          <p:cNvPr id="14" name="Shape 13"/>
          <p:cNvSpPr/>
          <p:nvPr/>
        </p:nvSpPr>
        <p:spPr>
          <a:xfrm>
            <a:off x="3291840" y="2468880"/>
            <a:ext cx="3657600" cy="72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4"/>
          <p:cNvSpPr/>
          <p:nvPr/>
        </p:nvSpPr>
        <p:spPr>
          <a:xfrm>
            <a:off x="3429000" y="2468880"/>
            <a:ext cx="338328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Campus</a:t>
            </a:r>
            <a:endParaRPr lang="en-US" sz="1050" dirty="0"/>
          </a:p>
        </p:txBody>
      </p:sp>
      <p:sp>
        <p:nvSpPr>
          <p:cNvPr id="16" name="Shape 15"/>
          <p:cNvSpPr/>
          <p:nvPr/>
        </p:nvSpPr>
        <p:spPr>
          <a:xfrm>
            <a:off x="6949440" y="2468880"/>
            <a:ext cx="4297680" cy="72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6"/>
          <p:cNvSpPr/>
          <p:nvPr/>
        </p:nvSpPr>
        <p:spPr>
          <a:xfrm>
            <a:off x="7086600" y="2468880"/>
            <a:ext cx="402336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private and isolated network.</a:t>
            </a:r>
            <a:endParaRPr lang="en-US" sz="1050" dirty="0"/>
          </a:p>
        </p:txBody>
      </p:sp>
      <p:sp>
        <p:nvSpPr>
          <p:cNvPr id="18" name="Shape 17"/>
          <p:cNvSpPr/>
          <p:nvPr/>
        </p:nvSpPr>
        <p:spPr>
          <a:xfrm>
            <a:off x="457200" y="3188880"/>
            <a:ext cx="2834640" cy="72000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19" name="Text 18"/>
          <p:cNvSpPr/>
          <p:nvPr/>
        </p:nvSpPr>
        <p:spPr>
          <a:xfrm>
            <a:off x="594360" y="3188880"/>
            <a:ext cx="256032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</a:t>
            </a:r>
            <a:endParaRPr lang="en-US" sz="1050" dirty="0"/>
          </a:p>
        </p:txBody>
      </p:sp>
      <p:sp>
        <p:nvSpPr>
          <p:cNvPr id="20" name="Shape 19"/>
          <p:cNvSpPr/>
          <p:nvPr/>
        </p:nvSpPr>
        <p:spPr>
          <a:xfrm>
            <a:off x="3291840" y="3188880"/>
            <a:ext cx="3657600" cy="72000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21" name="Text 20"/>
          <p:cNvSpPr/>
          <p:nvPr/>
        </p:nvSpPr>
        <p:spPr>
          <a:xfrm>
            <a:off x="3429000" y="3188880"/>
            <a:ext cx="338328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(Library, Admin Block, Classrooms)</a:t>
            </a:r>
            <a:endParaRPr lang="en-US" sz="1050" dirty="0"/>
          </a:p>
        </p:txBody>
      </p:sp>
      <p:sp>
        <p:nvSpPr>
          <p:cNvPr id="22" name="Shape 21"/>
          <p:cNvSpPr/>
          <p:nvPr/>
        </p:nvSpPr>
        <p:spPr>
          <a:xfrm>
            <a:off x="6949440" y="3188880"/>
            <a:ext cx="4297680" cy="72000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23" name="Text 22"/>
          <p:cNvSpPr/>
          <p:nvPr/>
        </p:nvSpPr>
        <p:spPr>
          <a:xfrm>
            <a:off x="7086600" y="3188880"/>
            <a:ext cx="402336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the campus into different sections.</a:t>
            </a:r>
            <a:endParaRPr lang="en-US" sz="1050" dirty="0"/>
          </a:p>
        </p:txBody>
      </p:sp>
      <p:sp>
        <p:nvSpPr>
          <p:cNvPr id="24" name="Shape 23"/>
          <p:cNvSpPr/>
          <p:nvPr/>
        </p:nvSpPr>
        <p:spPr>
          <a:xfrm>
            <a:off x="457200" y="3908880"/>
            <a:ext cx="2834640" cy="72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4"/>
          <p:cNvSpPr/>
          <p:nvPr/>
        </p:nvSpPr>
        <p:spPr>
          <a:xfrm>
            <a:off x="594360" y="3908880"/>
            <a:ext cx="256032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</a:t>
            </a:r>
            <a:endParaRPr lang="en-US" sz="1050" dirty="0"/>
          </a:p>
        </p:txBody>
      </p:sp>
      <p:sp>
        <p:nvSpPr>
          <p:cNvPr id="26" name="Shape 25"/>
          <p:cNvSpPr/>
          <p:nvPr/>
        </p:nvSpPr>
        <p:spPr>
          <a:xfrm>
            <a:off x="3291840" y="3908880"/>
            <a:ext cx="3657600" cy="72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6"/>
          <p:cNvSpPr/>
          <p:nvPr/>
        </p:nvSpPr>
        <p:spPr>
          <a:xfrm>
            <a:off x="3429000" y="3908880"/>
            <a:ext cx="338328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Roads</a:t>
            </a:r>
            <a:endParaRPr lang="en-US" sz="1050" dirty="0"/>
          </a:p>
        </p:txBody>
      </p:sp>
      <p:sp>
        <p:nvSpPr>
          <p:cNvPr id="28" name="Shape 27"/>
          <p:cNvSpPr/>
          <p:nvPr/>
        </p:nvSpPr>
        <p:spPr>
          <a:xfrm>
            <a:off x="6949440" y="3908880"/>
            <a:ext cx="4297680" cy="72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8"/>
          <p:cNvSpPr/>
          <p:nvPr/>
        </p:nvSpPr>
        <p:spPr>
          <a:xfrm>
            <a:off x="7086600" y="3908880"/>
            <a:ext cx="402336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how to travel between buildings or outside the campus.</a:t>
            </a:r>
            <a:endParaRPr lang="en-US" sz="1050" dirty="0"/>
          </a:p>
        </p:txBody>
      </p:sp>
      <p:sp>
        <p:nvSpPr>
          <p:cNvPr id="30" name="Shape 29"/>
          <p:cNvSpPr/>
          <p:nvPr/>
        </p:nvSpPr>
        <p:spPr>
          <a:xfrm>
            <a:off x="457200" y="4628880"/>
            <a:ext cx="2834640" cy="72000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31" name="Text 30"/>
          <p:cNvSpPr/>
          <p:nvPr/>
        </p:nvSpPr>
        <p:spPr>
          <a:xfrm>
            <a:off x="594360" y="4628880"/>
            <a:ext cx="256032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1050" dirty="0"/>
          </a:p>
        </p:txBody>
      </p:sp>
      <p:sp>
        <p:nvSpPr>
          <p:cNvPr id="32" name="Shape 31"/>
          <p:cNvSpPr/>
          <p:nvPr/>
        </p:nvSpPr>
        <p:spPr>
          <a:xfrm>
            <a:off x="3291840" y="4628880"/>
            <a:ext cx="3657600" cy="72000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33" name="Text 32"/>
          <p:cNvSpPr/>
          <p:nvPr/>
        </p:nvSpPr>
        <p:spPr>
          <a:xfrm>
            <a:off x="3429000" y="4628880"/>
            <a:ext cx="338328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Entrance Gate</a:t>
            </a:r>
            <a:endParaRPr lang="en-US" sz="1050" dirty="0"/>
          </a:p>
        </p:txBody>
      </p:sp>
      <p:sp>
        <p:nvSpPr>
          <p:cNvPr id="34" name="Shape 33"/>
          <p:cNvSpPr/>
          <p:nvPr/>
        </p:nvSpPr>
        <p:spPr>
          <a:xfrm>
            <a:off x="6949440" y="4628880"/>
            <a:ext cx="4297680" cy="72000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35" name="Text 34"/>
          <p:cNvSpPr/>
          <p:nvPr/>
        </p:nvSpPr>
        <p:spPr>
          <a:xfrm>
            <a:off x="7086600" y="4628880"/>
            <a:ext cx="402336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people (internet traffic) to enter and leave the campus.</a:t>
            </a:r>
            <a:endParaRPr lang="en-US" sz="1050" dirty="0"/>
          </a:p>
        </p:txBody>
      </p:sp>
      <p:sp>
        <p:nvSpPr>
          <p:cNvPr id="36" name="Shape 35"/>
          <p:cNvSpPr/>
          <p:nvPr/>
        </p:nvSpPr>
        <p:spPr>
          <a:xfrm>
            <a:off x="457200" y="5348880"/>
            <a:ext cx="2834640" cy="72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6"/>
          <p:cNvSpPr/>
          <p:nvPr/>
        </p:nvSpPr>
        <p:spPr>
          <a:xfrm>
            <a:off x="594360" y="5348880"/>
            <a:ext cx="256032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</a:t>
            </a:r>
            <a:endParaRPr lang="en-US" sz="1050" dirty="0"/>
          </a:p>
        </p:txBody>
      </p:sp>
      <p:sp>
        <p:nvSpPr>
          <p:cNvPr id="38" name="Shape 37"/>
          <p:cNvSpPr/>
          <p:nvPr/>
        </p:nvSpPr>
        <p:spPr>
          <a:xfrm>
            <a:off x="3291840" y="5348880"/>
            <a:ext cx="3657600" cy="72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8"/>
          <p:cNvSpPr/>
          <p:nvPr/>
        </p:nvSpPr>
        <p:spPr>
          <a:xfrm>
            <a:off x="3429000" y="5348880"/>
            <a:ext cx="338328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Exit Gate</a:t>
            </a:r>
            <a:endParaRPr lang="en-US" sz="1050" dirty="0"/>
          </a:p>
        </p:txBody>
      </p:sp>
      <p:sp>
        <p:nvSpPr>
          <p:cNvPr id="40" name="Shape 39"/>
          <p:cNvSpPr/>
          <p:nvPr/>
        </p:nvSpPr>
        <p:spPr>
          <a:xfrm>
            <a:off x="6949440" y="5348880"/>
            <a:ext cx="4297680" cy="72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40"/>
          <p:cNvSpPr/>
          <p:nvPr/>
        </p:nvSpPr>
        <p:spPr>
          <a:xfrm>
            <a:off x="7086600" y="5348880"/>
            <a:ext cx="402336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staff (private servers) to go outside, but outsiders cannot enter through it.</a:t>
            </a:r>
            <a:endParaRPr lang="en-US" sz="1050" dirty="0"/>
          </a:p>
        </p:txBody>
      </p:sp>
      <p:sp>
        <p:nvSpPr>
          <p:cNvPr id="42" name="Text 4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Networking</a:t>
            </a:r>
            <a:endParaRPr lang="en-US" sz="1000" dirty="0"/>
          </a:p>
        </p:txBody>
      </p:sp>
      <p:sp>
        <p:nvSpPr>
          <p:cNvPr id="43" name="Text 42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065A82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3560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ideas to remember before you build your first network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103120" cy="402336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331720"/>
            <a:ext cx="731520" cy="731520"/>
          </a:xfrm>
          <a:prstGeom prst="ellipse">
            <a:avLst/>
          </a:prstGeom>
          <a:solidFill>
            <a:srgbClr val="065A82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work/assets/icon_vp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195" y="2521915"/>
            <a:ext cx="351130" cy="3511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324612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VPC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1792" y="3749040"/>
            <a:ext cx="177393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private, isolated network in AWS — everything else is built inside it.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670048" y="2011680"/>
            <a:ext cx="2103120" cy="402336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/>
        </p:spPr>
      </p:sp>
      <p:sp>
        <p:nvSpPr>
          <p:cNvPr id="12" name="Shape 9"/>
          <p:cNvSpPr/>
          <p:nvPr/>
        </p:nvSpPr>
        <p:spPr>
          <a:xfrm>
            <a:off x="3355848" y="2331720"/>
            <a:ext cx="731520" cy="731520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1" descr="/home/claude/work/assets/icon_subn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6043" y="252191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79776" y="324612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Subnet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834640" y="3749040"/>
            <a:ext cx="177393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smaller IP range within one Availability Zone — public or private.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882896" y="2011680"/>
            <a:ext cx="2103120" cy="402336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/>
        </p:spPr>
      </p:sp>
      <p:sp>
        <p:nvSpPr>
          <p:cNvPr id="17" name="Shape 13"/>
          <p:cNvSpPr/>
          <p:nvPr/>
        </p:nvSpPr>
        <p:spPr>
          <a:xfrm>
            <a:off x="5568696" y="2331720"/>
            <a:ext cx="731520" cy="731520"/>
          </a:xfrm>
          <a:prstGeom prst="ellipse">
            <a:avLst/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8" name="Image 2" descr="/home/claude/work/assets/icon_ro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8891" y="252191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92624" y="324612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Table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047488" y="3749040"/>
            <a:ext cx="177393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rulebook that decides where each subnet's traffic is allowed to go.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7095744" y="2011680"/>
            <a:ext cx="2103120" cy="402336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/>
        </p:spPr>
      </p:sp>
      <p:sp>
        <p:nvSpPr>
          <p:cNvPr id="22" name="Shape 17"/>
          <p:cNvSpPr/>
          <p:nvPr/>
        </p:nvSpPr>
        <p:spPr>
          <a:xfrm>
            <a:off x="7781544" y="2331720"/>
            <a:ext cx="731520" cy="731520"/>
          </a:xfrm>
          <a:prstGeom prst="ellipse">
            <a:avLst/>
          </a:prstGeom>
          <a:solidFill>
            <a:srgbClr val="ED8936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3" name="Image 3" descr="/home/claude/work/assets/icon_ig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1739" y="2521915"/>
            <a:ext cx="351130" cy="35113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05472" y="324612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Gateway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260336" y="3749040"/>
            <a:ext cx="177393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it to the VPC, route to it, and a subnet becomes public.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9308592" y="2011680"/>
            <a:ext cx="2103120" cy="402336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/>
        </p:spPr>
      </p:sp>
      <p:sp>
        <p:nvSpPr>
          <p:cNvPr id="27" name="Shape 21"/>
          <p:cNvSpPr/>
          <p:nvPr/>
        </p:nvSpPr>
        <p:spPr>
          <a:xfrm>
            <a:off x="9994392" y="2331720"/>
            <a:ext cx="731520" cy="731520"/>
          </a:xfrm>
          <a:prstGeom prst="ellipse">
            <a:avLst/>
          </a:prstGeom>
          <a:solidFill>
            <a:srgbClr val="B5511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8" name="Image 4" descr="/home/claude/work/assets/icon_na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4587" y="2521915"/>
            <a:ext cx="351130" cy="35113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418320" y="324612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 Gateway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9473184" y="3749040"/>
            <a:ext cx="177393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private subnets outbound-only internet access, safely.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Networking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ED893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46888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0" y="33375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24148" y="4297680"/>
            <a:ext cx="658368" cy="658368"/>
          </a:xfrm>
          <a:prstGeom prst="ellipse">
            <a:avLst/>
          </a:prstGeom>
          <a:solidFill>
            <a:srgbClr val="065A82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work/assets/icon_vp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323" y="4468856"/>
            <a:ext cx="316017" cy="31601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92828" y="4297680"/>
            <a:ext cx="658368" cy="658368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/home/claude/work/assets/icon_subn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003" y="4468856"/>
            <a:ext cx="316017" cy="31601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661508" y="4297680"/>
            <a:ext cx="658368" cy="658368"/>
          </a:xfrm>
          <a:prstGeom prst="ellipse">
            <a:avLst/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2" descr="/home/claude/work/assets/icon_ro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2683" y="4468856"/>
            <a:ext cx="316017" cy="316017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530188" y="4297680"/>
            <a:ext cx="658368" cy="658368"/>
          </a:xfrm>
          <a:prstGeom prst="ellipse">
            <a:avLst/>
          </a:prstGeom>
          <a:solidFill>
            <a:srgbClr val="ED8936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3" descr="/home/claude/work/assets/icon_ig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1363" y="4468856"/>
            <a:ext cx="316017" cy="316017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7398868" y="4297680"/>
            <a:ext cx="658368" cy="658368"/>
          </a:xfrm>
          <a:prstGeom prst="ellipse">
            <a:avLst/>
          </a:prstGeom>
          <a:solidFill>
            <a:srgbClr val="B5511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4" descr="/home/claude/work/assets/icon_na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0043" y="4468856"/>
            <a:ext cx="316017" cy="31601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0" y="62636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Networking  ·  VPC · Subnets · Route Tables · Internet Gateway · NAT Gateway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2257</Words>
  <Application>Microsoft Office PowerPoint</Application>
  <PresentationFormat>Widescreen</PresentationFormat>
  <Paragraphs>359</Paragraphs>
  <Slides>21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Cambria</vt:lpstr>
      <vt:lpstr>Gautami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Ravi</cp:lastModifiedBy>
  <cp:revision>5</cp:revision>
  <dcterms:created xsi:type="dcterms:W3CDTF">2026-07-28T10:19:40Z</dcterms:created>
  <dcterms:modified xsi:type="dcterms:W3CDTF">2026-07-29T09:59:57Z</dcterms:modified>
</cp:coreProperties>
</file>